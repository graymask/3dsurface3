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315" r:id="rId3"/>
    <p:sldId id="339" r:id="rId4"/>
    <p:sldId id="340" r:id="rId5"/>
    <p:sldId id="344" r:id="rId6"/>
    <p:sldId id="342" r:id="rId7"/>
    <p:sldId id="343" r:id="rId8"/>
  </p:sldIdLst>
  <p:sldSz cx="9144000" cy="6858000" type="screen4x3"/>
  <p:notesSz cx="9926638" cy="6797675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6DD3B383-B6F3-4877-8004-3340591F10CA}">
          <p14:sldIdLst>
            <p14:sldId id="256"/>
            <p14:sldId id="315"/>
            <p14:sldId id="339"/>
            <p14:sldId id="340"/>
            <p14:sldId id="344"/>
            <p14:sldId id="342"/>
            <p14:sldId id="34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3" autoAdjust="0"/>
    <p:restoredTop sz="94393" autoAdjust="0"/>
  </p:normalViewPr>
  <p:slideViewPr>
    <p:cSldViewPr snapToGrid="0">
      <p:cViewPr varScale="1">
        <p:scale>
          <a:sx n="124" d="100"/>
          <a:sy n="124" d="100"/>
        </p:scale>
        <p:origin x="1092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25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36" tIns="45718" rIns="91436" bIns="45718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622800" y="1"/>
            <a:ext cx="4301543" cy="341064"/>
          </a:xfrm>
          <a:prstGeom prst="rect">
            <a:avLst/>
          </a:prstGeom>
        </p:spPr>
        <p:txBody>
          <a:bodyPr vert="horz" lIns="91436" tIns="45718" rIns="91436" bIns="45718" rtlCol="0"/>
          <a:lstStyle>
            <a:lvl1pPr algn="r">
              <a:defRPr sz="1200"/>
            </a:lvl1pPr>
          </a:lstStyle>
          <a:p>
            <a:fld id="{A7047017-3F4D-4800-9B33-5B2A9DB7873C}" type="datetimeFigureOut">
              <a:rPr kumimoji="1" lang="ja-JP" altLang="en-US" smtClean="0"/>
              <a:t>2017/6/12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6456614"/>
            <a:ext cx="4301543" cy="341063"/>
          </a:xfrm>
          <a:prstGeom prst="rect">
            <a:avLst/>
          </a:prstGeom>
        </p:spPr>
        <p:txBody>
          <a:bodyPr vert="horz" lIns="91436" tIns="45718" rIns="91436" bIns="45718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622800" y="6456614"/>
            <a:ext cx="4301543" cy="341063"/>
          </a:xfrm>
          <a:prstGeom prst="rect">
            <a:avLst/>
          </a:prstGeom>
        </p:spPr>
        <p:txBody>
          <a:bodyPr vert="horz" lIns="91436" tIns="45718" rIns="91436" bIns="45718" rtlCol="0" anchor="b"/>
          <a:lstStyle>
            <a:lvl1pPr algn="r">
              <a:defRPr sz="1200"/>
            </a:lvl1pPr>
          </a:lstStyle>
          <a:p>
            <a:fld id="{F6CEBBC0-0D16-4C51-A178-F7B061223F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4219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36" tIns="45718" rIns="91436" bIns="45718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622800" y="1"/>
            <a:ext cx="4301543" cy="341064"/>
          </a:xfrm>
          <a:prstGeom prst="rect">
            <a:avLst/>
          </a:prstGeom>
        </p:spPr>
        <p:txBody>
          <a:bodyPr vert="horz" lIns="91436" tIns="45718" rIns="91436" bIns="45718" rtlCol="0"/>
          <a:lstStyle>
            <a:lvl1pPr algn="r">
              <a:defRPr sz="1200"/>
            </a:lvl1pPr>
          </a:lstStyle>
          <a:p>
            <a:fld id="{4EE61553-47AE-49F4-A30A-FEA3F4C5BB3B}" type="datetimeFigureOut">
              <a:rPr kumimoji="1" lang="ja-JP" altLang="en-US" smtClean="0"/>
              <a:t>2017/6/12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433763" y="849313"/>
            <a:ext cx="3059112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6" tIns="45718" rIns="91436" bIns="45718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92664" y="3271383"/>
            <a:ext cx="7941310" cy="2676585"/>
          </a:xfrm>
          <a:prstGeom prst="rect">
            <a:avLst/>
          </a:prstGeom>
        </p:spPr>
        <p:txBody>
          <a:bodyPr vert="horz" lIns="91436" tIns="45718" rIns="91436" bIns="45718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456614"/>
            <a:ext cx="4301543" cy="341063"/>
          </a:xfrm>
          <a:prstGeom prst="rect">
            <a:avLst/>
          </a:prstGeom>
        </p:spPr>
        <p:txBody>
          <a:bodyPr vert="horz" lIns="91436" tIns="45718" rIns="91436" bIns="45718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622800" y="6456614"/>
            <a:ext cx="4301543" cy="341063"/>
          </a:xfrm>
          <a:prstGeom prst="rect">
            <a:avLst/>
          </a:prstGeom>
        </p:spPr>
        <p:txBody>
          <a:bodyPr vert="horz" lIns="91436" tIns="45718" rIns="91436" bIns="45718" rtlCol="0" anchor="b"/>
          <a:lstStyle>
            <a:lvl1pPr algn="r">
              <a:defRPr sz="1200"/>
            </a:lvl1pPr>
          </a:lstStyle>
          <a:p>
            <a:fld id="{01BD5F71-B6FF-4752-A481-C3A1CF4156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5982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BD5F71-B6FF-4752-A481-C3A1CF41568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758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C931-648D-4F19-A7E9-4215BE8EB453}" type="datetime1">
              <a:rPr kumimoji="1" lang="ja-JP" altLang="en-US" smtClean="0"/>
              <a:t>2017/6/12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337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AF857-1170-4F41-B12E-ABF113777648}" type="datetime1">
              <a:rPr kumimoji="1" lang="ja-JP" altLang="en-US" smtClean="0"/>
              <a:t>2017/6/12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4475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44318-77C3-4220-BCFC-4622BF0AADB9}" type="datetime1">
              <a:rPr kumimoji="1" lang="ja-JP" altLang="en-US" smtClean="0"/>
              <a:t>2017/6/12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6616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11334-7932-403E-9818-0031037B27BC}" type="datetime1">
              <a:rPr kumimoji="1" lang="ja-JP" altLang="en-US" smtClean="0"/>
              <a:t>2017/6/12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1420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46AA7-D6AC-483B-B59F-B92B33580718}" type="datetime1">
              <a:rPr kumimoji="1" lang="ja-JP" altLang="en-US" smtClean="0"/>
              <a:t>2017/6/12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7693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AB63-8332-4105-A8E8-92D9FFE45080}" type="datetime1">
              <a:rPr kumimoji="1" lang="ja-JP" altLang="en-US" smtClean="0"/>
              <a:t>2017/6/12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865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7F610-1513-4196-8905-051CB72780E2}" type="datetime1">
              <a:rPr kumimoji="1" lang="ja-JP" altLang="en-US" smtClean="0"/>
              <a:t>2017/6/12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6862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99A3-628B-475C-AC88-0DCEBFCBE43E}" type="datetime1">
              <a:rPr kumimoji="1" lang="ja-JP" altLang="en-US" smtClean="0"/>
              <a:t>2017/6/12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5032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E26B5-C4B8-4F0A-BA8D-9718B829FC64}" type="datetime1">
              <a:rPr kumimoji="1" lang="ja-JP" altLang="en-US" smtClean="0"/>
              <a:t>2017/6/12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9270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96EC0-4E43-4FF5-933C-8728087BB85F}" type="datetime1">
              <a:rPr kumimoji="1" lang="ja-JP" altLang="en-US" smtClean="0"/>
              <a:t>2017/6/12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7350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8B55-76C5-4689-9D3B-072D0666FEF8}" type="datetime1">
              <a:rPr kumimoji="1" lang="ja-JP" altLang="en-US" smtClean="0"/>
              <a:t>2017/6/12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929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474DA-14F1-4050-95A4-F0689030D4A9}" type="datetime1">
              <a:rPr kumimoji="1" lang="ja-JP" altLang="en-US" smtClean="0"/>
              <a:t>2017/6/12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6415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1620837"/>
          </a:xfrm>
        </p:spPr>
        <p:txBody>
          <a:bodyPr>
            <a:normAutofit/>
          </a:bodyPr>
          <a:lstStyle/>
          <a:p>
            <a:r>
              <a:rPr lang="ja-JP" altLang="en-US" sz="2800" dirty="0"/>
              <a:t>ステレオカメラ・照明・時間を活用した</a:t>
            </a:r>
            <a:br>
              <a:rPr lang="ja-JP" altLang="en-US" sz="2800" dirty="0"/>
            </a:br>
            <a:r>
              <a:rPr lang="ja-JP" altLang="en-US" sz="2800" dirty="0"/>
              <a:t>高精度・高ロバストな部品計測に関する研究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143000" y="4061861"/>
            <a:ext cx="6858000" cy="2562727"/>
          </a:xfrm>
        </p:spPr>
        <p:txBody>
          <a:bodyPr/>
          <a:lstStyle/>
          <a:p>
            <a:r>
              <a:rPr kumimoji="1" lang="ja-JP" altLang="en-US" dirty="0" smtClean="0"/>
              <a:t>奥富研究室</a:t>
            </a:r>
            <a:endParaRPr kumimoji="1" lang="en-US" altLang="ja-JP" dirty="0" smtClean="0"/>
          </a:p>
          <a:p>
            <a:r>
              <a:rPr lang="ja-JP" altLang="en-US" dirty="0" smtClean="0"/>
              <a:t>李淳雨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156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前回の実験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3573369" cy="4351338"/>
          </a:xfrm>
        </p:spPr>
        <p:txBody>
          <a:bodyPr/>
          <a:lstStyle/>
          <a:p>
            <a:r>
              <a:rPr lang="ja-JP" altLang="en-US" dirty="0" smtClean="0"/>
              <a:t>全周形状</a:t>
            </a:r>
            <a:r>
              <a:rPr lang="ja-JP" altLang="en-US" dirty="0"/>
              <a:t>獲得</a:t>
            </a:r>
            <a:endParaRPr lang="en-US" altLang="ja-JP" dirty="0" smtClean="0"/>
          </a:p>
          <a:p>
            <a:pPr marL="342900" indent="-342900">
              <a:buFont typeface="+mj-ea"/>
              <a:buAutoNum type="circleNumDbPlain"/>
            </a:pPr>
            <a:r>
              <a:rPr lang="ja-JP" altLang="en-US" sz="1800" dirty="0" smtClean="0"/>
              <a:t>ひとつのカメラを使い，オブジェクトを巡って撮影する。</a:t>
            </a:r>
            <a:endParaRPr lang="en-US" altLang="ja-JP" sz="1800" dirty="0" smtClean="0"/>
          </a:p>
          <a:p>
            <a:pPr marL="342900" indent="-342900">
              <a:buFont typeface="+mj-ea"/>
              <a:buAutoNum type="circleNumDbPlain"/>
            </a:pPr>
            <a:r>
              <a:rPr lang="ja-JP" altLang="en-US" sz="1800" dirty="0" smtClean="0"/>
              <a:t>カメラの位置を固定し</a:t>
            </a:r>
            <a:r>
              <a:rPr lang="ja-JP" altLang="en-US" sz="1800" dirty="0"/>
              <a:t>，</a:t>
            </a:r>
            <a:r>
              <a:rPr lang="ja-JP" altLang="en-US" sz="1800" dirty="0" smtClean="0"/>
              <a:t>プロジェクター位置を調整する。</a:t>
            </a:r>
            <a:endParaRPr lang="en-US" altLang="ja-JP" sz="1800" dirty="0" smtClean="0"/>
          </a:p>
          <a:p>
            <a:pPr marL="342900" indent="-342900">
              <a:buFont typeface="+mj-ea"/>
              <a:buAutoNum type="circleNumDbPlain"/>
            </a:pPr>
            <a:r>
              <a:rPr lang="ja-JP" altLang="en-US" sz="1800" dirty="0" smtClean="0"/>
              <a:t>撮影を繰り返す。</a:t>
            </a:r>
            <a:endParaRPr lang="en-US" altLang="ja-JP" sz="1800" dirty="0"/>
          </a:p>
          <a:p>
            <a:pPr marL="0" indent="0">
              <a:buNone/>
            </a:pPr>
            <a:endParaRPr lang="en-US" altLang="ja-JP" sz="1800" dirty="0" smtClean="0"/>
          </a:p>
          <a:p>
            <a:pPr lvl="1"/>
            <a:endParaRPr lang="en-US" altLang="ja-JP" sz="1800" dirty="0" smtClean="0"/>
          </a:p>
          <a:p>
            <a:pPr lvl="1"/>
            <a:endParaRPr kumimoji="1" lang="ja-JP" altLang="en-US" sz="20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5" name="楕円 4"/>
          <p:cNvSpPr/>
          <p:nvPr/>
        </p:nvSpPr>
        <p:spPr>
          <a:xfrm>
            <a:off x="5361483" y="3047580"/>
            <a:ext cx="1247614" cy="7516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Object</a:t>
            </a:r>
            <a:endParaRPr kumimoji="1" lang="ja-JP" altLang="en-US" dirty="0"/>
          </a:p>
        </p:txBody>
      </p:sp>
      <p:grpSp>
        <p:nvGrpSpPr>
          <p:cNvPr id="51" name="グループ化 50"/>
          <p:cNvGrpSpPr/>
          <p:nvPr/>
        </p:nvGrpSpPr>
        <p:grpSpPr>
          <a:xfrm rot="629018">
            <a:off x="4374707" y="3814429"/>
            <a:ext cx="436970" cy="426920"/>
            <a:chOff x="2926233" y="4366143"/>
            <a:chExt cx="436970" cy="426920"/>
          </a:xfrm>
        </p:grpSpPr>
        <p:cxnSp>
          <p:nvCxnSpPr>
            <p:cNvPr id="7" name="直線コネクタ 6"/>
            <p:cNvCxnSpPr/>
            <p:nvPr/>
          </p:nvCxnSpPr>
          <p:spPr>
            <a:xfrm>
              <a:off x="3096167" y="4366143"/>
              <a:ext cx="267036" cy="275792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/>
            <p:cNvCxnSpPr/>
            <p:nvPr/>
          </p:nvCxnSpPr>
          <p:spPr>
            <a:xfrm flipV="1">
              <a:off x="2926233" y="4629867"/>
              <a:ext cx="436970" cy="163196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/>
            <p:cNvCxnSpPr/>
            <p:nvPr/>
          </p:nvCxnSpPr>
          <p:spPr>
            <a:xfrm flipV="1">
              <a:off x="2926233" y="4366143"/>
              <a:ext cx="169934" cy="410728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グループ化 21"/>
          <p:cNvGrpSpPr/>
          <p:nvPr/>
        </p:nvGrpSpPr>
        <p:grpSpPr>
          <a:xfrm rot="20793346">
            <a:off x="4995630" y="4410780"/>
            <a:ext cx="436970" cy="426920"/>
            <a:chOff x="3381121" y="4885577"/>
            <a:chExt cx="436970" cy="426920"/>
          </a:xfrm>
        </p:grpSpPr>
        <p:cxnSp>
          <p:nvCxnSpPr>
            <p:cNvPr id="19" name="直線コネクタ 18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グループ化 22"/>
          <p:cNvGrpSpPr/>
          <p:nvPr/>
        </p:nvGrpSpPr>
        <p:grpSpPr>
          <a:xfrm rot="5856494">
            <a:off x="4955242" y="1936978"/>
            <a:ext cx="436970" cy="426920"/>
            <a:chOff x="3381121" y="4885577"/>
            <a:chExt cx="436970" cy="426920"/>
          </a:xfrm>
        </p:grpSpPr>
        <p:cxnSp>
          <p:nvCxnSpPr>
            <p:cNvPr id="24" name="直線コネクタ 23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コネクタ 25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グループ化 26"/>
          <p:cNvGrpSpPr/>
          <p:nvPr/>
        </p:nvGrpSpPr>
        <p:grpSpPr>
          <a:xfrm rot="17009884">
            <a:off x="6717243" y="4338035"/>
            <a:ext cx="436970" cy="426920"/>
            <a:chOff x="3381121" y="4885577"/>
            <a:chExt cx="436970" cy="426920"/>
          </a:xfrm>
        </p:grpSpPr>
        <p:cxnSp>
          <p:nvCxnSpPr>
            <p:cNvPr id="28" name="直線コネクタ 27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コネクタ 28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コネクタ 29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グループ化 30"/>
          <p:cNvGrpSpPr/>
          <p:nvPr/>
        </p:nvGrpSpPr>
        <p:grpSpPr>
          <a:xfrm rot="10589131">
            <a:off x="6983887" y="2381932"/>
            <a:ext cx="436970" cy="426920"/>
            <a:chOff x="3381121" y="4885577"/>
            <a:chExt cx="436970" cy="426920"/>
          </a:xfrm>
        </p:grpSpPr>
        <p:cxnSp>
          <p:nvCxnSpPr>
            <p:cNvPr id="32" name="直線コネクタ 31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コネクタ 33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グループ化 34"/>
          <p:cNvGrpSpPr/>
          <p:nvPr/>
        </p:nvGrpSpPr>
        <p:grpSpPr>
          <a:xfrm rot="8441671">
            <a:off x="5955824" y="1785863"/>
            <a:ext cx="436970" cy="426920"/>
            <a:chOff x="3381121" y="4885577"/>
            <a:chExt cx="436970" cy="426920"/>
          </a:xfrm>
        </p:grpSpPr>
        <p:cxnSp>
          <p:nvCxnSpPr>
            <p:cNvPr id="36" name="直線コネクタ 35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コネクタ 36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グループ化 38"/>
          <p:cNvGrpSpPr/>
          <p:nvPr/>
        </p:nvGrpSpPr>
        <p:grpSpPr>
          <a:xfrm rot="14258682">
            <a:off x="7215047" y="3495915"/>
            <a:ext cx="436970" cy="426920"/>
            <a:chOff x="3381121" y="4885577"/>
            <a:chExt cx="436970" cy="426920"/>
          </a:xfrm>
        </p:grpSpPr>
        <p:cxnSp>
          <p:nvCxnSpPr>
            <p:cNvPr id="40" name="直線コネクタ 39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コネクタ 40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コネクタ 41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グループ化 42"/>
          <p:cNvGrpSpPr/>
          <p:nvPr/>
        </p:nvGrpSpPr>
        <p:grpSpPr>
          <a:xfrm rot="3735886">
            <a:off x="4331020" y="2820716"/>
            <a:ext cx="436970" cy="426920"/>
            <a:chOff x="3381121" y="4885577"/>
            <a:chExt cx="436970" cy="426920"/>
          </a:xfrm>
        </p:grpSpPr>
        <p:cxnSp>
          <p:nvCxnSpPr>
            <p:cNvPr id="44" name="直線コネクタ 43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コネクタ 44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コネクタ 45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グループ化 46"/>
          <p:cNvGrpSpPr/>
          <p:nvPr/>
        </p:nvGrpSpPr>
        <p:grpSpPr>
          <a:xfrm rot="19182551">
            <a:off x="5731091" y="4639169"/>
            <a:ext cx="436970" cy="426920"/>
            <a:chOff x="3381121" y="4885577"/>
            <a:chExt cx="436970" cy="426920"/>
          </a:xfrm>
        </p:grpSpPr>
        <p:cxnSp>
          <p:nvCxnSpPr>
            <p:cNvPr id="48" name="直線コネクタ 47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コネクタ 49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グループ化 51"/>
          <p:cNvGrpSpPr/>
          <p:nvPr/>
        </p:nvGrpSpPr>
        <p:grpSpPr>
          <a:xfrm rot="17009884">
            <a:off x="6785732" y="4447285"/>
            <a:ext cx="436970" cy="426920"/>
            <a:chOff x="3381121" y="4885577"/>
            <a:chExt cx="436970" cy="426920"/>
          </a:xfrm>
        </p:grpSpPr>
        <p:cxnSp>
          <p:nvCxnSpPr>
            <p:cNvPr id="53" name="直線コネクタ 52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コネクタ 53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コネクタ 54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グループ化 55"/>
          <p:cNvGrpSpPr/>
          <p:nvPr/>
        </p:nvGrpSpPr>
        <p:grpSpPr>
          <a:xfrm rot="8472611">
            <a:off x="5964415" y="1663578"/>
            <a:ext cx="436970" cy="426920"/>
            <a:chOff x="3381121" y="4885577"/>
            <a:chExt cx="436970" cy="426920"/>
          </a:xfrm>
        </p:grpSpPr>
        <p:cxnSp>
          <p:nvCxnSpPr>
            <p:cNvPr id="57" name="直線コネクタ 56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コネクタ 57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コネクタ 58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フローチャート: 手作業 64"/>
          <p:cNvSpPr/>
          <p:nvPr/>
        </p:nvSpPr>
        <p:spPr>
          <a:xfrm rot="889492">
            <a:off x="4757098" y="5445332"/>
            <a:ext cx="1523134" cy="513181"/>
          </a:xfrm>
          <a:prstGeom prst="flowChartManualOperation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 smtClean="0">
                <a:solidFill>
                  <a:schemeClr val="accent5"/>
                </a:solidFill>
              </a:rPr>
              <a:t>Projector</a:t>
            </a:r>
            <a:r>
              <a:rPr lang="ja-JP" altLang="en-US" sz="1400" dirty="0">
                <a:solidFill>
                  <a:schemeClr val="accent5"/>
                </a:solidFill>
              </a:rPr>
              <a:t> </a:t>
            </a:r>
            <a:r>
              <a:rPr lang="en-US" altLang="ja-JP" sz="1400" dirty="0" smtClean="0">
                <a:solidFill>
                  <a:schemeClr val="accent5"/>
                </a:solidFill>
              </a:rPr>
              <a:t>Position 1</a:t>
            </a:r>
            <a:endParaRPr kumimoji="1" lang="ja-JP" altLang="en-US" sz="1400" dirty="0">
              <a:solidFill>
                <a:schemeClr val="accent5"/>
              </a:solidFill>
            </a:endParaRPr>
          </a:p>
        </p:txBody>
      </p:sp>
      <p:sp>
        <p:nvSpPr>
          <p:cNvPr id="66" name="フローチャート: 手作業 65"/>
          <p:cNvSpPr/>
          <p:nvPr/>
        </p:nvSpPr>
        <p:spPr>
          <a:xfrm rot="15381966">
            <a:off x="7708098" y="2443201"/>
            <a:ext cx="1508509" cy="513181"/>
          </a:xfrm>
          <a:prstGeom prst="flowChartManualOperation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accent6"/>
                </a:solidFill>
              </a:rPr>
              <a:t>Projector Position </a:t>
            </a:r>
            <a:r>
              <a:rPr lang="en-US" altLang="ja-JP" sz="1400" dirty="0" smtClean="0">
                <a:solidFill>
                  <a:schemeClr val="accent6"/>
                </a:solidFill>
              </a:rPr>
              <a:t>2</a:t>
            </a:r>
            <a:endParaRPr lang="en-US" altLang="ja-JP" sz="1400" dirty="0">
              <a:solidFill>
                <a:schemeClr val="accent6"/>
              </a:solidFill>
            </a:endParaRPr>
          </a:p>
        </p:txBody>
      </p:sp>
      <p:sp>
        <p:nvSpPr>
          <p:cNvPr id="67" name="フローチャート: 手作業 66"/>
          <p:cNvSpPr/>
          <p:nvPr/>
        </p:nvSpPr>
        <p:spPr>
          <a:xfrm rot="7779247">
            <a:off x="3545576" y="1393020"/>
            <a:ext cx="1523806" cy="513181"/>
          </a:xfrm>
          <a:prstGeom prst="flowChartManualOperation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accent2"/>
                </a:solidFill>
              </a:rPr>
              <a:t>Projector Position </a:t>
            </a:r>
            <a:r>
              <a:rPr lang="en-US" altLang="ja-JP" sz="1400" dirty="0" smtClean="0">
                <a:solidFill>
                  <a:schemeClr val="accent2"/>
                </a:solidFill>
              </a:rPr>
              <a:t>3</a:t>
            </a:r>
            <a:endParaRPr kumimoji="1" lang="ja-JP" altLang="en-US" sz="1400" dirty="0">
              <a:solidFill>
                <a:schemeClr val="accent2"/>
              </a:solidFill>
            </a:endParaRP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4520192" y="4138328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5"/>
                </a:solidFill>
              </a:rPr>
              <a:t>1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5221029" y="4692364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5"/>
                </a:solidFill>
              </a:rPr>
              <a:t>2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6011555" y="4803439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5"/>
                </a:solidFill>
              </a:rPr>
              <a:t>3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7100258" y="4244372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5"/>
                </a:solidFill>
              </a:rPr>
              <a:t>4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72" name="テキスト ボックス 71"/>
          <p:cNvSpPr txBox="1"/>
          <p:nvPr/>
        </p:nvSpPr>
        <p:spPr>
          <a:xfrm>
            <a:off x="7178470" y="4528602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6"/>
                </a:solidFill>
              </a:rPr>
              <a:t>1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74" name="テキスト ボックス 73"/>
          <p:cNvSpPr txBox="1"/>
          <p:nvPr/>
        </p:nvSpPr>
        <p:spPr>
          <a:xfrm>
            <a:off x="7467465" y="3292606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6"/>
                </a:solidFill>
              </a:rPr>
              <a:t>2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75" name="テキスト ボックス 74"/>
          <p:cNvSpPr txBox="1"/>
          <p:nvPr/>
        </p:nvSpPr>
        <p:spPr>
          <a:xfrm>
            <a:off x="6975260" y="2145469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6"/>
                </a:solidFill>
              </a:rPr>
              <a:t>3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76" name="テキスト ボックス 75"/>
          <p:cNvSpPr txBox="1"/>
          <p:nvPr/>
        </p:nvSpPr>
        <p:spPr>
          <a:xfrm>
            <a:off x="6334792" y="1912096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6"/>
                </a:solidFill>
              </a:rPr>
              <a:t>4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77" name="テキスト ボックス 76"/>
          <p:cNvSpPr txBox="1"/>
          <p:nvPr/>
        </p:nvSpPr>
        <p:spPr>
          <a:xfrm>
            <a:off x="6320741" y="1658991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2"/>
                </a:solidFill>
              </a:rPr>
              <a:t>1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79" name="テキスト ボックス 78"/>
          <p:cNvSpPr txBox="1"/>
          <p:nvPr/>
        </p:nvSpPr>
        <p:spPr>
          <a:xfrm>
            <a:off x="5203307" y="1787264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2"/>
                </a:solidFill>
              </a:rPr>
              <a:t>2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80" name="テキスト ボックス 79"/>
          <p:cNvSpPr txBox="1"/>
          <p:nvPr/>
        </p:nvSpPr>
        <p:spPr>
          <a:xfrm>
            <a:off x="4370224" y="2580111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2"/>
                </a:solidFill>
              </a:rPr>
              <a:t>3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905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前回の実験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49" y="1825625"/>
            <a:ext cx="3336311" cy="4351338"/>
          </a:xfrm>
        </p:spPr>
        <p:txBody>
          <a:bodyPr/>
          <a:lstStyle/>
          <a:p>
            <a:r>
              <a:rPr lang="ja-JP" altLang="en-US" dirty="0"/>
              <a:t>ループクロージング</a:t>
            </a:r>
            <a:endParaRPr lang="en-US" altLang="ja-JP" dirty="0"/>
          </a:p>
          <a:p>
            <a:r>
              <a:rPr lang="ja-JP" altLang="en-US" sz="2000" dirty="0" smtClean="0"/>
              <a:t>最初のカメラと末尾</a:t>
            </a:r>
            <a:r>
              <a:rPr lang="ja-JP" altLang="en-US" sz="2000" dirty="0"/>
              <a:t>のカメラから</a:t>
            </a:r>
            <a:r>
              <a:rPr lang="ja-JP" altLang="en-US" sz="2000" dirty="0" smtClean="0"/>
              <a:t>復元された点群を取り出す。</a:t>
            </a:r>
            <a:endParaRPr lang="en-US" altLang="ja-JP" sz="2000" dirty="0" smtClean="0"/>
          </a:p>
          <a:p>
            <a:r>
              <a:rPr lang="ja-JP" altLang="en-US" sz="2000" dirty="0" smtClean="0"/>
              <a:t>三次元</a:t>
            </a:r>
            <a:r>
              <a:rPr lang="ja-JP" altLang="en-US" sz="2000" dirty="0"/>
              <a:t>形状の対応点を探す。</a:t>
            </a:r>
          </a:p>
          <a:p>
            <a:r>
              <a:rPr lang="ja-JP" altLang="en-US" sz="2000" dirty="0" smtClean="0"/>
              <a:t>対応点を画像に再投影する。</a:t>
            </a:r>
            <a:endParaRPr lang="en-US" altLang="ja-JP" sz="2000" dirty="0" smtClean="0"/>
          </a:p>
          <a:p>
            <a:r>
              <a:rPr lang="ja-JP" altLang="en-US" sz="2000" dirty="0" smtClean="0"/>
              <a:t>バンドル調整。</a:t>
            </a:r>
            <a:endParaRPr lang="ja-JP" altLang="en-US" sz="200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3</a:t>
            </a:fld>
            <a:endParaRPr kumimoji="1" lang="ja-JP" altLang="en-US"/>
          </a:p>
        </p:txBody>
      </p:sp>
      <p:grpSp>
        <p:nvGrpSpPr>
          <p:cNvPr id="6" name="グループ化 5"/>
          <p:cNvGrpSpPr/>
          <p:nvPr/>
        </p:nvGrpSpPr>
        <p:grpSpPr>
          <a:xfrm rot="629018">
            <a:off x="4374707" y="3814429"/>
            <a:ext cx="436970" cy="426920"/>
            <a:chOff x="2926233" y="4366143"/>
            <a:chExt cx="436970" cy="426920"/>
          </a:xfrm>
        </p:grpSpPr>
        <p:cxnSp>
          <p:nvCxnSpPr>
            <p:cNvPr id="7" name="直線コネクタ 6"/>
            <p:cNvCxnSpPr/>
            <p:nvPr/>
          </p:nvCxnSpPr>
          <p:spPr>
            <a:xfrm>
              <a:off x="3096167" y="4366143"/>
              <a:ext cx="267036" cy="275792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/>
            <p:cNvCxnSpPr/>
            <p:nvPr/>
          </p:nvCxnSpPr>
          <p:spPr>
            <a:xfrm flipV="1">
              <a:off x="2926233" y="4629867"/>
              <a:ext cx="436970" cy="163196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コネクタ 8"/>
            <p:cNvCxnSpPr/>
            <p:nvPr/>
          </p:nvCxnSpPr>
          <p:spPr>
            <a:xfrm flipV="1">
              <a:off x="2926233" y="4366143"/>
              <a:ext cx="169934" cy="410728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グループ化 9"/>
          <p:cNvGrpSpPr/>
          <p:nvPr/>
        </p:nvGrpSpPr>
        <p:grpSpPr>
          <a:xfrm rot="20793346">
            <a:off x="4995630" y="4410780"/>
            <a:ext cx="436970" cy="426920"/>
            <a:chOff x="3381121" y="4885577"/>
            <a:chExt cx="436970" cy="426920"/>
          </a:xfrm>
        </p:grpSpPr>
        <p:cxnSp>
          <p:nvCxnSpPr>
            <p:cNvPr id="11" name="直線コネクタ 10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グループ化 13"/>
          <p:cNvGrpSpPr/>
          <p:nvPr/>
        </p:nvGrpSpPr>
        <p:grpSpPr>
          <a:xfrm rot="5856494">
            <a:off x="4955242" y="1936978"/>
            <a:ext cx="436970" cy="426920"/>
            <a:chOff x="3381121" y="4885577"/>
            <a:chExt cx="436970" cy="426920"/>
          </a:xfrm>
        </p:grpSpPr>
        <p:cxnSp>
          <p:nvCxnSpPr>
            <p:cNvPr id="15" name="直線コネクタ 14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コネクタ 15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グループ化 17"/>
          <p:cNvGrpSpPr/>
          <p:nvPr/>
        </p:nvGrpSpPr>
        <p:grpSpPr>
          <a:xfrm rot="17009884">
            <a:off x="6717243" y="4338035"/>
            <a:ext cx="436970" cy="426920"/>
            <a:chOff x="3381121" y="4885577"/>
            <a:chExt cx="436970" cy="426920"/>
          </a:xfrm>
        </p:grpSpPr>
        <p:cxnSp>
          <p:nvCxnSpPr>
            <p:cNvPr id="19" name="直線コネクタ 18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グループ化 21"/>
          <p:cNvGrpSpPr/>
          <p:nvPr/>
        </p:nvGrpSpPr>
        <p:grpSpPr>
          <a:xfrm rot="10589131">
            <a:off x="6983887" y="2381932"/>
            <a:ext cx="436970" cy="426920"/>
            <a:chOff x="3381121" y="4885577"/>
            <a:chExt cx="436970" cy="426920"/>
          </a:xfrm>
        </p:grpSpPr>
        <p:cxnSp>
          <p:nvCxnSpPr>
            <p:cNvPr id="23" name="直線コネクタ 22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グループ化 25"/>
          <p:cNvGrpSpPr/>
          <p:nvPr/>
        </p:nvGrpSpPr>
        <p:grpSpPr>
          <a:xfrm rot="8441671">
            <a:off x="5955824" y="1785863"/>
            <a:ext cx="436970" cy="426920"/>
            <a:chOff x="3381121" y="4885577"/>
            <a:chExt cx="436970" cy="426920"/>
          </a:xfrm>
        </p:grpSpPr>
        <p:cxnSp>
          <p:nvCxnSpPr>
            <p:cNvPr id="27" name="直線コネクタ 26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コネクタ 27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コネクタ 28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グループ化 29"/>
          <p:cNvGrpSpPr/>
          <p:nvPr/>
        </p:nvGrpSpPr>
        <p:grpSpPr>
          <a:xfrm rot="14258682">
            <a:off x="7215047" y="3495915"/>
            <a:ext cx="436970" cy="426920"/>
            <a:chOff x="3381121" y="4885577"/>
            <a:chExt cx="436970" cy="426920"/>
          </a:xfrm>
        </p:grpSpPr>
        <p:cxnSp>
          <p:nvCxnSpPr>
            <p:cNvPr id="31" name="直線コネクタ 30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コネクタ 31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グループ化 33"/>
          <p:cNvGrpSpPr/>
          <p:nvPr/>
        </p:nvGrpSpPr>
        <p:grpSpPr>
          <a:xfrm rot="3319324">
            <a:off x="4331020" y="3020500"/>
            <a:ext cx="436970" cy="426920"/>
            <a:chOff x="3381121" y="4885577"/>
            <a:chExt cx="436970" cy="426920"/>
          </a:xfrm>
        </p:grpSpPr>
        <p:cxnSp>
          <p:nvCxnSpPr>
            <p:cNvPr id="35" name="直線コネクタ 34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コネクタ 35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コネクタ 36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グループ化 37"/>
          <p:cNvGrpSpPr/>
          <p:nvPr/>
        </p:nvGrpSpPr>
        <p:grpSpPr>
          <a:xfrm rot="19182551">
            <a:off x="5731091" y="4639169"/>
            <a:ext cx="436970" cy="426920"/>
            <a:chOff x="3381121" y="4885577"/>
            <a:chExt cx="436970" cy="426920"/>
          </a:xfrm>
        </p:grpSpPr>
        <p:cxnSp>
          <p:nvCxnSpPr>
            <p:cNvPr id="39" name="直線コネクタ 38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コネクタ 39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コネクタ 40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グループ化 41"/>
          <p:cNvGrpSpPr/>
          <p:nvPr/>
        </p:nvGrpSpPr>
        <p:grpSpPr>
          <a:xfrm rot="17009884">
            <a:off x="6785732" y="4447285"/>
            <a:ext cx="436970" cy="426920"/>
            <a:chOff x="3381121" y="4885577"/>
            <a:chExt cx="436970" cy="426920"/>
          </a:xfrm>
        </p:grpSpPr>
        <p:cxnSp>
          <p:nvCxnSpPr>
            <p:cNvPr id="43" name="直線コネクタ 42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コネクタ 44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グループ化 45"/>
          <p:cNvGrpSpPr/>
          <p:nvPr/>
        </p:nvGrpSpPr>
        <p:grpSpPr>
          <a:xfrm rot="8472611">
            <a:off x="5964415" y="1663578"/>
            <a:ext cx="436970" cy="426920"/>
            <a:chOff x="3381121" y="4885577"/>
            <a:chExt cx="436970" cy="426920"/>
          </a:xfrm>
        </p:grpSpPr>
        <p:cxnSp>
          <p:nvCxnSpPr>
            <p:cNvPr id="47" name="直線コネクタ 46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コネクタ 47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フローチャート: 手作業 49"/>
          <p:cNvSpPr/>
          <p:nvPr/>
        </p:nvSpPr>
        <p:spPr>
          <a:xfrm rot="889492">
            <a:off x="4757098" y="5445332"/>
            <a:ext cx="1523134" cy="513181"/>
          </a:xfrm>
          <a:prstGeom prst="flowChartManualOperation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 smtClean="0">
                <a:solidFill>
                  <a:schemeClr val="accent5"/>
                </a:solidFill>
              </a:rPr>
              <a:t>Projector</a:t>
            </a:r>
            <a:r>
              <a:rPr lang="ja-JP" altLang="en-US" sz="1400" dirty="0">
                <a:solidFill>
                  <a:schemeClr val="accent5"/>
                </a:solidFill>
              </a:rPr>
              <a:t> </a:t>
            </a:r>
            <a:r>
              <a:rPr lang="en-US" altLang="ja-JP" sz="1400" dirty="0" smtClean="0">
                <a:solidFill>
                  <a:schemeClr val="accent5"/>
                </a:solidFill>
              </a:rPr>
              <a:t>Position 1</a:t>
            </a:r>
            <a:endParaRPr kumimoji="1" lang="ja-JP" altLang="en-US" sz="1400" dirty="0">
              <a:solidFill>
                <a:schemeClr val="accent5"/>
              </a:solidFill>
            </a:endParaRPr>
          </a:p>
        </p:txBody>
      </p:sp>
      <p:sp>
        <p:nvSpPr>
          <p:cNvPr id="51" name="フローチャート: 手作業 50"/>
          <p:cNvSpPr/>
          <p:nvPr/>
        </p:nvSpPr>
        <p:spPr>
          <a:xfrm rot="15381966">
            <a:off x="7708098" y="2443201"/>
            <a:ext cx="1508509" cy="513181"/>
          </a:xfrm>
          <a:prstGeom prst="flowChartManualOperation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accent6"/>
                </a:solidFill>
              </a:rPr>
              <a:t>Projector Position </a:t>
            </a:r>
            <a:r>
              <a:rPr lang="en-US" altLang="ja-JP" sz="1400" dirty="0" smtClean="0">
                <a:solidFill>
                  <a:schemeClr val="accent6"/>
                </a:solidFill>
              </a:rPr>
              <a:t>2</a:t>
            </a:r>
            <a:endParaRPr lang="en-US" altLang="ja-JP" sz="1400" dirty="0">
              <a:solidFill>
                <a:schemeClr val="accent6"/>
              </a:solidFill>
            </a:endParaRPr>
          </a:p>
        </p:txBody>
      </p:sp>
      <p:sp>
        <p:nvSpPr>
          <p:cNvPr id="52" name="フローチャート: 手作業 51"/>
          <p:cNvSpPr/>
          <p:nvPr/>
        </p:nvSpPr>
        <p:spPr>
          <a:xfrm rot="7779247">
            <a:off x="3545576" y="1393020"/>
            <a:ext cx="1523806" cy="513181"/>
          </a:xfrm>
          <a:prstGeom prst="flowChartManualOperation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accent2"/>
                </a:solidFill>
              </a:rPr>
              <a:t>Projector Position </a:t>
            </a:r>
            <a:r>
              <a:rPr lang="en-US" altLang="ja-JP" sz="1400" dirty="0" smtClean="0">
                <a:solidFill>
                  <a:schemeClr val="accent2"/>
                </a:solidFill>
              </a:rPr>
              <a:t>3</a:t>
            </a:r>
            <a:endParaRPr kumimoji="1" lang="ja-JP" altLang="en-US" sz="1400" dirty="0">
              <a:solidFill>
                <a:schemeClr val="accent2"/>
              </a:solidFill>
            </a:endParaRPr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4520192" y="4138328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5"/>
                </a:solidFill>
              </a:rPr>
              <a:t>1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5221029" y="4692364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5"/>
                </a:solidFill>
              </a:rPr>
              <a:t>2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6011555" y="4803439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5"/>
                </a:solidFill>
              </a:rPr>
              <a:t>3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7100258" y="4244372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5"/>
                </a:solidFill>
              </a:rPr>
              <a:t>4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57" name="テキスト ボックス 56"/>
          <p:cNvSpPr txBox="1"/>
          <p:nvPr/>
        </p:nvSpPr>
        <p:spPr>
          <a:xfrm>
            <a:off x="7178470" y="4528602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6"/>
                </a:solidFill>
              </a:rPr>
              <a:t>1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58" name="テキスト ボックス 57"/>
          <p:cNvSpPr txBox="1"/>
          <p:nvPr/>
        </p:nvSpPr>
        <p:spPr>
          <a:xfrm>
            <a:off x="7467465" y="3292606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6"/>
                </a:solidFill>
              </a:rPr>
              <a:t>2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59" name="テキスト ボックス 58"/>
          <p:cNvSpPr txBox="1"/>
          <p:nvPr/>
        </p:nvSpPr>
        <p:spPr>
          <a:xfrm>
            <a:off x="6975260" y="2145469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6"/>
                </a:solidFill>
              </a:rPr>
              <a:t>3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6334792" y="1912096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6"/>
                </a:solidFill>
              </a:rPr>
              <a:t>4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61" name="テキスト ボックス 60"/>
          <p:cNvSpPr txBox="1"/>
          <p:nvPr/>
        </p:nvSpPr>
        <p:spPr>
          <a:xfrm>
            <a:off x="6320741" y="1658991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2"/>
                </a:solidFill>
              </a:rPr>
              <a:t>1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62" name="テキスト ボックス 61"/>
          <p:cNvSpPr txBox="1"/>
          <p:nvPr/>
        </p:nvSpPr>
        <p:spPr>
          <a:xfrm>
            <a:off x="5203307" y="1787264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2"/>
                </a:solidFill>
              </a:rPr>
              <a:t>2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63" name="テキスト ボックス 62"/>
          <p:cNvSpPr txBox="1"/>
          <p:nvPr/>
        </p:nvSpPr>
        <p:spPr>
          <a:xfrm>
            <a:off x="4370224" y="2779895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2"/>
                </a:solidFill>
              </a:rPr>
              <a:t>3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65" name="フリーフォーム 64"/>
          <p:cNvSpPr/>
          <p:nvPr/>
        </p:nvSpPr>
        <p:spPr>
          <a:xfrm rot="18299348">
            <a:off x="5391736" y="2817816"/>
            <a:ext cx="1270105" cy="1203152"/>
          </a:xfrm>
          <a:custGeom>
            <a:avLst/>
            <a:gdLst>
              <a:gd name="connsiteX0" fmla="*/ 266754 w 1701974"/>
              <a:gd name="connsiteY0" fmla="*/ 399569 h 1499746"/>
              <a:gd name="connsiteX1" fmla="*/ 1288730 w 1701974"/>
              <a:gd name="connsiteY1" fmla="*/ 153680 h 1499746"/>
              <a:gd name="connsiteX2" fmla="*/ 1680616 w 1701974"/>
              <a:gd name="connsiteY2" fmla="*/ 991240 h 1499746"/>
              <a:gd name="connsiteX3" fmla="*/ 704743 w 1701974"/>
              <a:gd name="connsiteY3" fmla="*/ 1498386 h 1499746"/>
              <a:gd name="connsiteX4" fmla="*/ 43917 w 1701974"/>
              <a:gd name="connsiteY4" fmla="*/ 845243 h 1499746"/>
              <a:gd name="connsiteX5" fmla="*/ 113073 w 1701974"/>
              <a:gd name="connsiteY5" fmla="*/ 261257 h 1499746"/>
              <a:gd name="connsiteX6" fmla="*/ 528011 w 1701974"/>
              <a:gd name="connsiteY6" fmla="*/ 0 h 1499746"/>
              <a:gd name="connsiteX7" fmla="*/ 528011 w 1701974"/>
              <a:gd name="connsiteY7" fmla="*/ 0 h 1499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1974" h="1499746">
                <a:moveTo>
                  <a:pt x="266754" y="399569"/>
                </a:moveTo>
                <a:cubicBezTo>
                  <a:pt x="659920" y="227318"/>
                  <a:pt x="1053086" y="55068"/>
                  <a:pt x="1288730" y="153680"/>
                </a:cubicBezTo>
                <a:cubicBezTo>
                  <a:pt x="1524374" y="252292"/>
                  <a:pt x="1777947" y="767122"/>
                  <a:pt x="1680616" y="991240"/>
                </a:cubicBezTo>
                <a:cubicBezTo>
                  <a:pt x="1583285" y="1215358"/>
                  <a:pt x="977526" y="1522719"/>
                  <a:pt x="704743" y="1498386"/>
                </a:cubicBezTo>
                <a:cubicBezTo>
                  <a:pt x="431960" y="1474053"/>
                  <a:pt x="142529" y="1051431"/>
                  <a:pt x="43917" y="845243"/>
                </a:cubicBezTo>
                <a:cubicBezTo>
                  <a:pt x="-54695" y="639055"/>
                  <a:pt x="32391" y="402131"/>
                  <a:pt x="113073" y="261257"/>
                </a:cubicBezTo>
                <a:cubicBezTo>
                  <a:pt x="193755" y="120383"/>
                  <a:pt x="528011" y="0"/>
                  <a:pt x="528011" y="0"/>
                </a:cubicBezTo>
                <a:lnTo>
                  <a:pt x="528011" y="0"/>
                </a:lnTo>
              </a:path>
            </a:pathLst>
          </a:custGeom>
          <a:noFill/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7" name="直線コネクタ 66"/>
          <p:cNvCxnSpPr/>
          <p:nvPr/>
        </p:nvCxnSpPr>
        <p:spPr>
          <a:xfrm flipH="1">
            <a:off x="4716797" y="3530030"/>
            <a:ext cx="639260" cy="50752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/>
          <p:cNvCxnSpPr/>
          <p:nvPr/>
        </p:nvCxnSpPr>
        <p:spPr>
          <a:xfrm flipH="1" flipV="1">
            <a:off x="4655220" y="3215974"/>
            <a:ext cx="965420" cy="246797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/>
          <p:cNvCxnSpPr/>
          <p:nvPr/>
        </p:nvCxnSpPr>
        <p:spPr>
          <a:xfrm flipH="1">
            <a:off x="5338335" y="3486740"/>
            <a:ext cx="282305" cy="4329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テキスト ボックス 75"/>
          <p:cNvSpPr txBox="1"/>
          <p:nvPr/>
        </p:nvSpPr>
        <p:spPr>
          <a:xfrm>
            <a:off x="5091382" y="3567470"/>
            <a:ext cx="8358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 smtClean="0">
                <a:solidFill>
                  <a:srgbClr val="FF0000"/>
                </a:solidFill>
              </a:rPr>
              <a:t>３</a:t>
            </a:r>
            <a:r>
              <a:rPr kumimoji="1" lang="en-US" altLang="ja-JP" sz="1100" dirty="0" smtClean="0">
                <a:solidFill>
                  <a:srgbClr val="FF0000"/>
                </a:solidFill>
              </a:rPr>
              <a:t>D</a:t>
            </a:r>
            <a:r>
              <a:rPr kumimoji="1" lang="ja-JP" altLang="en-US" sz="1100" dirty="0" smtClean="0">
                <a:solidFill>
                  <a:srgbClr val="FF0000"/>
                </a:solidFill>
              </a:rPr>
              <a:t>対応点</a:t>
            </a:r>
            <a:endParaRPr kumimoji="1" lang="ja-JP" alt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799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ループクロージング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対応点を</a:t>
            </a:r>
            <a:r>
              <a:rPr lang="ja-JP" altLang="en-US" dirty="0" smtClean="0"/>
              <a:t>探す方法</a:t>
            </a:r>
            <a:endParaRPr lang="en-US" altLang="ja-JP" dirty="0"/>
          </a:p>
          <a:p>
            <a:r>
              <a:rPr lang="en-US" altLang="ja-JP" dirty="0" smtClean="0"/>
              <a:t>ICP</a:t>
            </a:r>
            <a:r>
              <a:rPr lang="ja-JP" altLang="en-US" dirty="0" smtClean="0"/>
              <a:t>アルゴリズムを用いて、二つ点群の位置合わせを行う。</a:t>
            </a:r>
            <a:endParaRPr lang="en-US" altLang="ja-JP" dirty="0" smtClean="0"/>
          </a:p>
          <a:p>
            <a:pPr marL="971550" lvl="1" indent="-514350">
              <a:buFont typeface="+mj-ea"/>
              <a:buAutoNum type="circleNumDbPlain"/>
            </a:pPr>
            <a:r>
              <a:rPr lang="ja-JP" altLang="en-US" dirty="0"/>
              <a:t>初期</a:t>
            </a:r>
            <a:r>
              <a:rPr lang="ja-JP" altLang="en-US" dirty="0" smtClean="0"/>
              <a:t>対応点を探す。</a:t>
            </a:r>
            <a:endParaRPr lang="en-US" altLang="ja-JP" dirty="0" smtClean="0"/>
          </a:p>
          <a:p>
            <a:pPr marL="971550" lvl="1" indent="-514350">
              <a:buFont typeface="+mj-ea"/>
              <a:buAutoNum type="circleNumDbPlain"/>
            </a:pPr>
            <a:r>
              <a:rPr lang="ja-JP" altLang="en-US" dirty="0"/>
              <a:t>変</a:t>
            </a:r>
            <a:r>
              <a:rPr lang="ja-JP" altLang="en-US" dirty="0" smtClean="0"/>
              <a:t>換行列</a:t>
            </a:r>
            <a:r>
              <a:rPr lang="ja-JP" altLang="en-US" dirty="0"/>
              <a:t>を求</a:t>
            </a:r>
            <a:r>
              <a:rPr lang="ja-JP" altLang="en-US" dirty="0" smtClean="0"/>
              <a:t>める。</a:t>
            </a:r>
            <a:endParaRPr lang="en-US" altLang="ja-JP" dirty="0" smtClean="0"/>
          </a:p>
          <a:p>
            <a:pPr marL="971550" lvl="1" indent="-514350">
              <a:buFont typeface="+mj-ea"/>
              <a:buAutoNum type="circleNumDbPlain"/>
            </a:pPr>
            <a:r>
              <a:rPr kumimoji="1" lang="ja-JP" altLang="en-US" dirty="0" smtClean="0"/>
              <a:t>誤差量を最小化するため、同じ手順を繰り返す。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3663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ループクロージング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283183"/>
          </a:xfrm>
        </p:spPr>
        <p:txBody>
          <a:bodyPr/>
          <a:lstStyle/>
          <a:p>
            <a:r>
              <a:rPr lang="ja-JP" altLang="en-US" dirty="0" smtClean="0"/>
              <a:t>実験（</a:t>
            </a:r>
            <a:r>
              <a:rPr lang="en-US" altLang="ja-JP" dirty="0" smtClean="0"/>
              <a:t>Box</a:t>
            </a:r>
            <a:r>
              <a:rPr lang="ja-JP" altLang="en-US" dirty="0" smtClean="0"/>
              <a:t>）</a:t>
            </a:r>
            <a:endParaRPr lang="en-US" altLang="ja-JP" dirty="0" smtClean="0"/>
          </a:p>
          <a:p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r>
              <a:rPr lang="ja-JP" altLang="en-US" sz="1800" dirty="0">
                <a:solidFill>
                  <a:prstClr val="black"/>
                </a:solidFill>
              </a:rPr>
              <a:t>プロジェクター</a:t>
            </a:r>
            <a:r>
              <a:rPr lang="ja-JP" altLang="en-US" sz="1800" dirty="0" smtClean="0">
                <a:solidFill>
                  <a:prstClr val="black"/>
                </a:solidFill>
              </a:rPr>
              <a:t>は</a:t>
            </a:r>
            <a:r>
              <a:rPr lang="en-US" altLang="ja-JP" sz="1800" dirty="0" smtClean="0">
                <a:solidFill>
                  <a:prstClr val="black"/>
                </a:solidFill>
              </a:rPr>
              <a:t>5</a:t>
            </a:r>
            <a:r>
              <a:rPr lang="ja-JP" altLang="en-US" sz="1800" dirty="0" err="1">
                <a:solidFill>
                  <a:prstClr val="black"/>
                </a:solidFill>
              </a:rPr>
              <a:t>つの</a:t>
            </a:r>
            <a:r>
              <a:rPr lang="ja-JP" altLang="en-US" sz="1800" dirty="0" smtClean="0">
                <a:solidFill>
                  <a:prstClr val="black"/>
                </a:solidFill>
              </a:rPr>
              <a:t>方向から</a:t>
            </a:r>
            <a:r>
              <a:rPr lang="ja-JP" altLang="en-US" sz="1800" dirty="0">
                <a:solidFill>
                  <a:prstClr val="black"/>
                </a:solidFill>
              </a:rPr>
              <a:t>パターンを投影した</a:t>
            </a:r>
            <a:r>
              <a:rPr lang="ja-JP" altLang="en-US" sz="1800" dirty="0" smtClean="0">
                <a:solidFill>
                  <a:prstClr val="black"/>
                </a:solidFill>
              </a:rPr>
              <a:t>。</a:t>
            </a:r>
            <a:endParaRPr lang="en-US" altLang="ja-JP" sz="1800" dirty="0" smtClean="0">
              <a:solidFill>
                <a:prstClr val="black"/>
              </a:solidFill>
            </a:endParaRPr>
          </a:p>
          <a:p>
            <a:pPr lvl="0"/>
            <a:r>
              <a:rPr lang="en-US" altLang="zh-CN" dirty="0" smtClean="0">
                <a:solidFill>
                  <a:prstClr val="black"/>
                </a:solidFill>
              </a:rPr>
              <a:t>ICP</a:t>
            </a:r>
            <a:r>
              <a:rPr lang="ja-JP" altLang="en-US" dirty="0" smtClean="0">
                <a:solidFill>
                  <a:prstClr val="black"/>
                </a:solidFill>
              </a:rPr>
              <a:t>の結果（</a:t>
            </a:r>
            <a:r>
              <a:rPr lang="en-US" altLang="ja-JP" dirty="0">
                <a:solidFill>
                  <a:prstClr val="black"/>
                </a:solidFill>
              </a:rPr>
              <a:t>Box</a:t>
            </a:r>
            <a:r>
              <a:rPr lang="ja-JP" altLang="en-US" dirty="0" smtClean="0">
                <a:solidFill>
                  <a:prstClr val="black"/>
                </a:solidFill>
              </a:rPr>
              <a:t>）</a:t>
            </a:r>
            <a:endParaRPr lang="en-US" altLang="ja-JP" dirty="0" smtClean="0">
              <a:solidFill>
                <a:prstClr val="black"/>
              </a:solidFill>
            </a:endParaRPr>
          </a:p>
          <a:p>
            <a:pPr lvl="0"/>
            <a:r>
              <a:rPr lang="ja-JP" altLang="en-US" sz="1800" dirty="0">
                <a:solidFill>
                  <a:prstClr val="black"/>
                </a:solidFill>
              </a:rPr>
              <a:t>赤い</a:t>
            </a:r>
            <a:r>
              <a:rPr lang="ja-JP" altLang="en-US" sz="1800" dirty="0" smtClean="0">
                <a:solidFill>
                  <a:prstClr val="black"/>
                </a:solidFill>
              </a:rPr>
              <a:t>点：カメラ１の点群（</a:t>
            </a:r>
            <a:r>
              <a:rPr lang="en-US" altLang="ja-JP" sz="1800" dirty="0" smtClean="0">
                <a:solidFill>
                  <a:prstClr val="black"/>
                </a:solidFill>
              </a:rPr>
              <a:t>26374</a:t>
            </a:r>
            <a:r>
              <a:rPr lang="ja-JP" altLang="en-US" sz="1800" dirty="0" smtClean="0">
                <a:solidFill>
                  <a:prstClr val="black"/>
                </a:solidFill>
              </a:rPr>
              <a:t>）</a:t>
            </a:r>
            <a:endParaRPr lang="en-US" altLang="ja-JP" sz="1800" dirty="0" smtClean="0">
              <a:solidFill>
                <a:prstClr val="black"/>
              </a:solidFill>
            </a:endParaRPr>
          </a:p>
          <a:p>
            <a:pPr lvl="0"/>
            <a:r>
              <a:rPr lang="ja-JP" altLang="en-US" sz="1800" dirty="0" smtClean="0">
                <a:solidFill>
                  <a:prstClr val="black"/>
                </a:solidFill>
              </a:rPr>
              <a:t>黄色の点：カメラ</a:t>
            </a:r>
            <a:r>
              <a:rPr lang="en-US" altLang="ja-JP" sz="1800" dirty="0" smtClean="0">
                <a:solidFill>
                  <a:prstClr val="black"/>
                </a:solidFill>
              </a:rPr>
              <a:t>N</a:t>
            </a:r>
            <a:r>
              <a:rPr lang="ja-JP" altLang="en-US" sz="1800" dirty="0" smtClean="0">
                <a:solidFill>
                  <a:prstClr val="black"/>
                </a:solidFill>
              </a:rPr>
              <a:t>の点群（</a:t>
            </a:r>
            <a:r>
              <a:rPr lang="en-US" altLang="ja-JP" sz="1800" dirty="0" smtClean="0">
                <a:solidFill>
                  <a:prstClr val="black"/>
                </a:solidFill>
              </a:rPr>
              <a:t>1150</a:t>
            </a:r>
            <a:r>
              <a:rPr lang="ja-JP" altLang="en-US" sz="1800" dirty="0" smtClean="0">
                <a:solidFill>
                  <a:prstClr val="black"/>
                </a:solidFill>
              </a:rPr>
              <a:t>）</a:t>
            </a:r>
            <a:endParaRPr lang="en-US" altLang="ja-JP" sz="1800" dirty="0">
              <a:solidFill>
                <a:prstClr val="black"/>
              </a:solidFill>
            </a:endParaRPr>
          </a:p>
          <a:p>
            <a:endParaRPr lang="en-US" altLang="ja-JP" sz="1800" dirty="0" smtClean="0"/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429" y="2455287"/>
            <a:ext cx="1897956" cy="1067601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040" y="2455288"/>
            <a:ext cx="1897955" cy="1067600"/>
          </a:xfrm>
          <a:prstGeom prst="rect">
            <a:avLst/>
          </a:prstGeom>
        </p:spPr>
      </p:pic>
      <p:pic>
        <p:nvPicPr>
          <p:cNvPr id="15" name="図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455287"/>
            <a:ext cx="1897956" cy="1067600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333" y="4279111"/>
            <a:ext cx="2720148" cy="182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446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762" y="2588191"/>
            <a:ext cx="2122351" cy="1199235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439" y="4539800"/>
            <a:ext cx="2155674" cy="1222898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ループクロージング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95851"/>
          </a:xfrm>
        </p:spPr>
        <p:txBody>
          <a:bodyPr/>
          <a:lstStyle/>
          <a:p>
            <a:r>
              <a:rPr lang="ja-JP" altLang="en-US" dirty="0" smtClean="0"/>
              <a:t>結果（</a:t>
            </a:r>
            <a:r>
              <a:rPr lang="en-US" altLang="ja-JP" dirty="0" smtClean="0"/>
              <a:t>Box</a:t>
            </a:r>
            <a:r>
              <a:rPr lang="ja-JP" altLang="en-US" dirty="0" smtClean="0"/>
              <a:t>）</a:t>
            </a:r>
            <a:endParaRPr lang="en-US" altLang="ja-JP" dirty="0" smtClean="0"/>
          </a:p>
          <a:p>
            <a:endParaRPr kumimoji="1" lang="en-US" altLang="ja-JP" dirty="0"/>
          </a:p>
          <a:p>
            <a:endParaRPr lang="en-US" altLang="ja-JP" dirty="0" smtClean="0"/>
          </a:p>
          <a:p>
            <a:endParaRPr kumimoji="1" lang="en-US" altLang="ja-JP" dirty="0"/>
          </a:p>
          <a:p>
            <a:endParaRPr lang="en-US" altLang="ja-JP" dirty="0" smtClean="0"/>
          </a:p>
          <a:p>
            <a:endParaRPr kumimoji="1" lang="en-US" altLang="ja-JP" dirty="0"/>
          </a:p>
          <a:p>
            <a:endParaRPr lang="en-US" altLang="ja-JP" dirty="0" smtClean="0"/>
          </a:p>
          <a:p>
            <a:endParaRPr kumimoji="1" lang="en-US" altLang="ja-JP" dirty="0"/>
          </a:p>
          <a:p>
            <a:r>
              <a:rPr lang="ja-JP" altLang="en-US" sz="1800" dirty="0" smtClean="0"/>
              <a:t>赤い点：カメラ１の点群</a:t>
            </a:r>
            <a:endParaRPr lang="en-US" altLang="ja-JP" sz="1800" dirty="0" smtClean="0"/>
          </a:p>
        </p:txBody>
      </p:sp>
      <p:sp>
        <p:nvSpPr>
          <p:cNvPr id="9" name="正方形/長方形 8"/>
          <p:cNvSpPr/>
          <p:nvPr/>
        </p:nvSpPr>
        <p:spPr>
          <a:xfrm>
            <a:off x="2565358" y="2552643"/>
            <a:ext cx="483891" cy="29199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/>
          <p:cNvCxnSpPr/>
          <p:nvPr/>
        </p:nvCxnSpPr>
        <p:spPr>
          <a:xfrm flipV="1">
            <a:off x="3049249" y="1835817"/>
            <a:ext cx="2016644" cy="71682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/>
          <p:cNvCxnSpPr/>
          <p:nvPr/>
        </p:nvCxnSpPr>
        <p:spPr>
          <a:xfrm>
            <a:off x="3049249" y="2844635"/>
            <a:ext cx="2016644" cy="85027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/>
          <p:cNvSpPr/>
          <p:nvPr/>
        </p:nvSpPr>
        <p:spPr>
          <a:xfrm>
            <a:off x="2565358" y="4486318"/>
            <a:ext cx="483891" cy="29199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/>
          <p:cNvCxnSpPr/>
          <p:nvPr/>
        </p:nvCxnSpPr>
        <p:spPr>
          <a:xfrm flipV="1">
            <a:off x="3049249" y="4268900"/>
            <a:ext cx="2016644" cy="21741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/>
          <p:cNvCxnSpPr/>
          <p:nvPr/>
        </p:nvCxnSpPr>
        <p:spPr>
          <a:xfrm>
            <a:off x="3049249" y="4778310"/>
            <a:ext cx="2099552" cy="11489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/>
          <p:cNvSpPr txBox="1"/>
          <p:nvPr/>
        </p:nvSpPr>
        <p:spPr>
          <a:xfrm>
            <a:off x="67961" y="3024160"/>
            <a:ext cx="64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B</a:t>
            </a:r>
            <a:r>
              <a:rPr kumimoji="1" lang="en-US" altLang="ja-JP" sz="1200" dirty="0" smtClean="0"/>
              <a:t>efore</a:t>
            </a:r>
            <a:endParaRPr kumimoji="1" lang="ja-JP" altLang="en-US" sz="1200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67962" y="4935516"/>
            <a:ext cx="64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 smtClean="0"/>
              <a:t>After</a:t>
            </a:r>
            <a:endParaRPr kumimoji="1" lang="ja-JP" altLang="en-US" sz="1200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39" y="4244149"/>
            <a:ext cx="1719500" cy="1683121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569" y="2330863"/>
            <a:ext cx="1670870" cy="1663594"/>
          </a:xfrm>
          <a:prstGeom prst="rect">
            <a:avLst/>
          </a:prstGeom>
        </p:spPr>
      </p:pic>
      <p:pic>
        <p:nvPicPr>
          <p:cNvPr id="21" name="図 20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" t="-8971" r="66895" b="79487"/>
          <a:stretch/>
        </p:blipFill>
        <p:spPr>
          <a:xfrm>
            <a:off x="5065893" y="1702366"/>
            <a:ext cx="3916076" cy="1992546"/>
          </a:xfrm>
          <a:prstGeom prst="rect">
            <a:avLst/>
          </a:prstGeom>
        </p:spPr>
      </p:pic>
      <p:pic>
        <p:nvPicPr>
          <p:cNvPr id="28" name="図 27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142" r="70604" b="80078"/>
          <a:stretch/>
        </p:blipFill>
        <p:spPr>
          <a:xfrm>
            <a:off x="5083166" y="4244149"/>
            <a:ext cx="3916075" cy="174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279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Surface</a:t>
            </a:r>
            <a:r>
              <a:rPr lang="ja-JP" altLang="en-US" dirty="0" smtClean="0"/>
              <a:t> </a:t>
            </a:r>
            <a:r>
              <a:rPr lang="en-US" altLang="ja-JP" dirty="0" smtClean="0"/>
              <a:t>Reconstruction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用いた手法：</a:t>
            </a:r>
            <a:r>
              <a:rPr lang="en-US" altLang="ja-JP" b="1" dirty="0" smtClean="0"/>
              <a:t>Ball</a:t>
            </a:r>
            <a:r>
              <a:rPr lang="ja-JP" altLang="en-US" b="1" dirty="0" smtClean="0"/>
              <a:t> </a:t>
            </a:r>
            <a:r>
              <a:rPr lang="en-US" altLang="ja-JP" b="1" dirty="0" smtClean="0"/>
              <a:t>Pivoting</a:t>
            </a:r>
            <a:r>
              <a:rPr lang="ja-JP" altLang="en-US" b="1" dirty="0" smtClean="0"/>
              <a:t> </a:t>
            </a:r>
            <a:r>
              <a:rPr lang="en-US" altLang="ja-JP" b="1" dirty="0" smtClean="0"/>
              <a:t>Algorithm </a:t>
            </a:r>
            <a:r>
              <a:rPr lang="en-US" altLang="ja-JP" dirty="0" smtClean="0"/>
              <a:t>in </a:t>
            </a:r>
            <a:r>
              <a:rPr lang="en-US" altLang="ja-JP" dirty="0" err="1" smtClean="0"/>
              <a:t>Meshlab</a:t>
            </a:r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sz="1800" dirty="0" smtClean="0"/>
          </a:p>
          <a:p>
            <a:r>
              <a:rPr kumimoji="1" lang="ja-JP" altLang="en-US" sz="1800" dirty="0" smtClean="0"/>
              <a:t>点数：</a:t>
            </a:r>
            <a:r>
              <a:rPr kumimoji="1" lang="en-US" altLang="ja-JP" sz="1800" dirty="0" smtClean="0"/>
              <a:t>248975</a:t>
            </a:r>
          </a:p>
          <a:p>
            <a:r>
              <a:rPr lang="ja-JP" altLang="en-US" sz="1800" dirty="0" smtClean="0"/>
              <a:t>生成面数：</a:t>
            </a:r>
            <a:r>
              <a:rPr lang="en-US" altLang="ja-JP" sz="1800" dirty="0" smtClean="0"/>
              <a:t>259060</a:t>
            </a:r>
            <a:endParaRPr kumimoji="1" lang="en-US" altLang="ja-JP" sz="1800" dirty="0" smtClean="0"/>
          </a:p>
          <a:p>
            <a:endParaRPr kumimoji="1" lang="ja-JP" altLang="en-US" sz="18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7</a:t>
            </a:fld>
            <a:endParaRPr kumimoji="1" lang="ja-JP" altLang="en-US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329" y="2445617"/>
            <a:ext cx="2758504" cy="1855496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833" y="2451206"/>
            <a:ext cx="2750195" cy="1849907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5442050" y="4301113"/>
            <a:ext cx="10142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dirty="0" smtClean="0"/>
              <a:t>メッシュ</a:t>
            </a:r>
            <a:endParaRPr kumimoji="1" lang="ja-JP" altLang="en-US" sz="1400" dirty="0"/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77" y="2451206"/>
            <a:ext cx="2334406" cy="1849907"/>
          </a:xfrm>
          <a:prstGeom prst="rect">
            <a:avLst/>
          </a:prstGeom>
        </p:spPr>
      </p:pic>
      <p:sp>
        <p:nvSpPr>
          <p:cNvPr id="9" name="テキスト ボックス 8"/>
          <p:cNvSpPr txBox="1"/>
          <p:nvPr/>
        </p:nvSpPr>
        <p:spPr>
          <a:xfrm>
            <a:off x="1169433" y="4322219"/>
            <a:ext cx="10142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dirty="0" smtClean="0"/>
              <a:t>３</a:t>
            </a:r>
            <a:r>
              <a:rPr kumimoji="1" lang="en-US" altLang="ja-JP" sz="1400" dirty="0" smtClean="0"/>
              <a:t>D</a:t>
            </a:r>
            <a:r>
              <a:rPr lang="ja-JP" altLang="en-US" sz="1400" dirty="0"/>
              <a:t>点群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83355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26220</TotalTime>
  <Words>251</Words>
  <Application>Microsoft Office PowerPoint</Application>
  <PresentationFormat>画面に合わせる (4:3)</PresentationFormat>
  <Paragraphs>91</Paragraphs>
  <Slides>7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4" baseType="lpstr">
      <vt:lpstr>等线</vt:lpstr>
      <vt:lpstr>游ゴシック</vt:lpstr>
      <vt:lpstr>游ゴシック Light</vt:lpstr>
      <vt:lpstr>Arial</vt:lpstr>
      <vt:lpstr>Calibri</vt:lpstr>
      <vt:lpstr>Calibri Light</vt:lpstr>
      <vt:lpstr>Office テーマ</vt:lpstr>
      <vt:lpstr>ステレオカメラ・照明・時間を活用した 高精度・高ロバストな部品計測に関する研究</vt:lpstr>
      <vt:lpstr>前回の実験</vt:lpstr>
      <vt:lpstr>前回の実験</vt:lpstr>
      <vt:lpstr>ループクロージング</vt:lpstr>
      <vt:lpstr>ループクロージング</vt:lpstr>
      <vt:lpstr>ループクロージング</vt:lpstr>
      <vt:lpstr>Surface Reconstruction</vt:lpstr>
    </vt:vector>
  </TitlesOfParts>
  <Company>東京工業大学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lchunyu</dc:creator>
  <cp:lastModifiedBy>lchunyu</cp:lastModifiedBy>
  <cp:revision>498</cp:revision>
  <cp:lastPrinted>2017-03-06T11:28:39Z</cp:lastPrinted>
  <dcterms:created xsi:type="dcterms:W3CDTF">2016-11-09T04:14:56Z</dcterms:created>
  <dcterms:modified xsi:type="dcterms:W3CDTF">2017-06-12T01:01:28Z</dcterms:modified>
</cp:coreProperties>
</file>