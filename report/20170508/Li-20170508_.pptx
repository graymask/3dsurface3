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4" r:id="rId3"/>
    <p:sldId id="315" r:id="rId4"/>
    <p:sldId id="333" r:id="rId5"/>
    <p:sldId id="334" r:id="rId6"/>
    <p:sldId id="335" r:id="rId7"/>
    <p:sldId id="332" r:id="rId8"/>
    <p:sldId id="336" r:id="rId9"/>
  </p:sldIdLst>
  <p:sldSz cx="9144000" cy="6858000" type="screen4x3"/>
  <p:notesSz cx="9926638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DD3B383-B6F3-4877-8004-3340591F10CA}">
          <p14:sldIdLst>
            <p14:sldId id="256"/>
            <p14:sldId id="294"/>
            <p14:sldId id="315"/>
            <p14:sldId id="333"/>
            <p14:sldId id="334"/>
            <p14:sldId id="335"/>
            <p14:sldId id="332"/>
            <p14:sldId id="33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94393" autoAdjust="0"/>
  </p:normalViewPr>
  <p:slideViewPr>
    <p:cSldViewPr snapToGrid="0">
      <p:cViewPr varScale="1">
        <p:scale>
          <a:sx n="124" d="100"/>
          <a:sy n="124" d="100"/>
        </p:scale>
        <p:origin x="109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25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2280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/>
            </a:lvl1pPr>
          </a:lstStyle>
          <a:p>
            <a:fld id="{A7047017-3F4D-4800-9B33-5B2A9DB7873C}" type="datetimeFigureOut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2280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/>
            </a:lvl1pPr>
          </a:lstStyle>
          <a:p>
            <a:fld id="{F6CEBBC0-0D16-4C51-A178-F7B061223F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421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280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/>
            </a:lvl1pPr>
          </a:lstStyle>
          <a:p>
            <a:fld id="{4EE61553-47AE-49F4-A30A-FEA3F4C5BB3B}" type="datetimeFigureOut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8" rIns="91436" bIns="4571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3"/>
            <a:ext cx="7941310" cy="2676585"/>
          </a:xfrm>
          <a:prstGeom prst="rect">
            <a:avLst/>
          </a:prstGeom>
        </p:spPr>
        <p:txBody>
          <a:bodyPr vert="horz" lIns="91436" tIns="45718" rIns="91436" bIns="45718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280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/>
            </a:lvl1pPr>
          </a:lstStyle>
          <a:p>
            <a:fld id="{01BD5F71-B6FF-4752-A481-C3A1CF4156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982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D5F71-B6FF-4752-A481-C3A1CF41568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58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D5F71-B6FF-4752-A481-C3A1CF41568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8199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C931-648D-4F19-A7E9-4215BE8EB453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33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F857-1170-4F41-B12E-ABF113777648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447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4318-77C3-4220-BCFC-4622BF0AADB9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61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1334-7932-403E-9818-0031037B27BC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142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46AA7-D6AC-483B-B59F-B92B33580718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69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AB63-8332-4105-A8E8-92D9FFE45080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65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F610-1513-4196-8905-051CB72780E2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686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99A3-628B-475C-AC88-0DCEBFCBE43E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03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E26B5-C4B8-4F0A-BA8D-9718B829FC64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927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EC0-4E43-4FF5-933C-8728087BB85F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735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8B55-76C5-4689-9D3B-072D0666FEF8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92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474DA-14F1-4050-95A4-F0689030D4A9}" type="datetime1">
              <a:rPr kumimoji="1" lang="ja-JP" altLang="en-US" smtClean="0"/>
              <a:t>2017/5/8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4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20837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ステレオカメラ・照明・時間を活用した</a:t>
            </a:r>
            <a:br>
              <a:rPr lang="ja-JP" altLang="en-US" sz="2800" dirty="0"/>
            </a:br>
            <a:r>
              <a:rPr lang="ja-JP" altLang="en-US" sz="2800" dirty="0"/>
              <a:t>高精度・高ロバストな部品計測に関する研究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143000" y="4061861"/>
            <a:ext cx="6858000" cy="2562727"/>
          </a:xfrm>
        </p:spPr>
        <p:txBody>
          <a:bodyPr/>
          <a:lstStyle/>
          <a:p>
            <a:r>
              <a:rPr kumimoji="1" lang="ja-JP" altLang="en-US" dirty="0" smtClean="0"/>
              <a:t>奥富研究室</a:t>
            </a:r>
            <a:endParaRPr kumimoji="1" lang="en-US" altLang="ja-JP" dirty="0" smtClean="0"/>
          </a:p>
          <a:p>
            <a:r>
              <a:rPr lang="ja-JP" altLang="en-US" dirty="0" smtClean="0"/>
              <a:t>李淳雨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56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あらまし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ja-JP" altLang="en-US" sz="2000" dirty="0"/>
              <a:t>前回の</a:t>
            </a:r>
            <a:r>
              <a:rPr lang="ja-JP" altLang="en-US" sz="2000" dirty="0" smtClean="0"/>
              <a:t>実験</a:t>
            </a:r>
            <a:endParaRPr lang="en-US" altLang="ja-JP" sz="2000" dirty="0" smtClean="0"/>
          </a:p>
          <a:p>
            <a:pPr>
              <a:lnSpc>
                <a:spcPct val="100000"/>
              </a:lnSpc>
            </a:pPr>
            <a:r>
              <a:rPr lang="ja-JP" altLang="en-US" sz="2000" dirty="0"/>
              <a:t>実験時間</a:t>
            </a:r>
            <a:r>
              <a:rPr lang="ja-JP" altLang="en-US" sz="2000" dirty="0" smtClean="0"/>
              <a:t>比較</a:t>
            </a:r>
            <a:endParaRPr lang="en-US" altLang="ja-JP" sz="2000" dirty="0" smtClean="0"/>
          </a:p>
          <a:p>
            <a:pPr>
              <a:lnSpc>
                <a:spcPct val="100000"/>
              </a:lnSpc>
            </a:pPr>
            <a:r>
              <a:rPr lang="ja-JP" altLang="en-US" sz="2000" dirty="0" smtClean="0"/>
              <a:t>デコード</a:t>
            </a:r>
            <a:endParaRPr lang="en-US" altLang="ja-JP" sz="2000" dirty="0" smtClean="0"/>
          </a:p>
          <a:p>
            <a:pPr>
              <a:lnSpc>
                <a:spcPct val="100000"/>
              </a:lnSpc>
            </a:pPr>
            <a:r>
              <a:rPr lang="ja-JP" altLang="en-US" sz="2000" dirty="0"/>
              <a:t>カメラ視点を</a:t>
            </a:r>
            <a:r>
              <a:rPr lang="ja-JP" altLang="en-US" sz="2000" dirty="0" smtClean="0"/>
              <a:t>減らす</a:t>
            </a:r>
            <a:endParaRPr lang="en-US" altLang="ja-JP" sz="2000" dirty="0" smtClean="0"/>
          </a:p>
          <a:p>
            <a:pPr>
              <a:lnSpc>
                <a:spcPct val="100000"/>
              </a:lnSpc>
            </a:pPr>
            <a:r>
              <a:rPr lang="ja-JP" altLang="en-US" sz="2000" dirty="0"/>
              <a:t>今後の課題</a:t>
            </a:r>
            <a:endParaRPr lang="en-US" altLang="ja-JP" sz="20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132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前回の実験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573369" cy="4351338"/>
          </a:xfrm>
        </p:spPr>
        <p:txBody>
          <a:bodyPr/>
          <a:lstStyle/>
          <a:p>
            <a:r>
              <a:rPr lang="ja-JP" altLang="en-US" dirty="0" smtClean="0"/>
              <a:t>全周形状</a:t>
            </a:r>
            <a:r>
              <a:rPr lang="ja-JP" altLang="en-US" dirty="0"/>
              <a:t>獲得</a:t>
            </a:r>
            <a:endParaRPr lang="en-US" altLang="ja-JP" dirty="0" smtClean="0"/>
          </a:p>
          <a:p>
            <a:pPr marL="342900" indent="-342900">
              <a:buFont typeface="+mj-ea"/>
              <a:buAutoNum type="circleNumDbPlain"/>
            </a:pPr>
            <a:r>
              <a:rPr lang="ja-JP" altLang="en-US" sz="1800" dirty="0" smtClean="0"/>
              <a:t>ひとつのカメラを使い，オブジェクトを巡って撮影する。</a:t>
            </a:r>
            <a:endParaRPr lang="en-US" altLang="ja-JP" sz="1800" dirty="0" smtClean="0"/>
          </a:p>
          <a:p>
            <a:pPr marL="342900" indent="-342900">
              <a:buFont typeface="+mj-ea"/>
              <a:buAutoNum type="circleNumDbPlain"/>
            </a:pPr>
            <a:r>
              <a:rPr lang="ja-JP" altLang="en-US" sz="1800" dirty="0" smtClean="0"/>
              <a:t>カメラの位置を固定し</a:t>
            </a:r>
            <a:r>
              <a:rPr lang="ja-JP" altLang="en-US" sz="1800" dirty="0"/>
              <a:t>，</a:t>
            </a:r>
            <a:r>
              <a:rPr lang="ja-JP" altLang="en-US" sz="1800" dirty="0" smtClean="0"/>
              <a:t>プロジェクター位置を調整する。</a:t>
            </a:r>
            <a:endParaRPr lang="en-US" altLang="ja-JP" sz="1800" dirty="0" smtClean="0"/>
          </a:p>
          <a:p>
            <a:pPr marL="342900" indent="-342900">
              <a:buFont typeface="+mj-ea"/>
              <a:buAutoNum type="circleNumDbPlain"/>
            </a:pPr>
            <a:r>
              <a:rPr lang="ja-JP" altLang="en-US" sz="1800" dirty="0" smtClean="0"/>
              <a:t>撮影を繰り返す。</a:t>
            </a:r>
            <a:endParaRPr lang="en-US" altLang="ja-JP" sz="1800" dirty="0"/>
          </a:p>
          <a:p>
            <a:pPr marL="0" indent="0">
              <a:buNone/>
            </a:pPr>
            <a:endParaRPr lang="en-US" altLang="ja-JP" sz="1800" dirty="0" smtClean="0"/>
          </a:p>
          <a:p>
            <a:pPr lvl="1"/>
            <a:endParaRPr lang="en-US" altLang="ja-JP" sz="1800" dirty="0" smtClean="0"/>
          </a:p>
          <a:p>
            <a:pPr lvl="1"/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楕円 4"/>
          <p:cNvSpPr/>
          <p:nvPr/>
        </p:nvSpPr>
        <p:spPr>
          <a:xfrm>
            <a:off x="5361483" y="3047580"/>
            <a:ext cx="1247614" cy="751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Object</a:t>
            </a:r>
            <a:endParaRPr kumimoji="1" lang="ja-JP" altLang="en-US" dirty="0"/>
          </a:p>
        </p:txBody>
      </p:sp>
      <p:grpSp>
        <p:nvGrpSpPr>
          <p:cNvPr id="51" name="グループ化 50"/>
          <p:cNvGrpSpPr/>
          <p:nvPr/>
        </p:nvGrpSpPr>
        <p:grpSpPr>
          <a:xfrm rot="629018">
            <a:off x="4374707" y="3814429"/>
            <a:ext cx="436970" cy="426920"/>
            <a:chOff x="2926233" y="4366143"/>
            <a:chExt cx="436970" cy="426920"/>
          </a:xfrm>
        </p:grpSpPr>
        <p:cxnSp>
          <p:nvCxnSpPr>
            <p:cNvPr id="7" name="直線コネクタ 6"/>
            <p:cNvCxnSpPr/>
            <p:nvPr/>
          </p:nvCxnSpPr>
          <p:spPr>
            <a:xfrm>
              <a:off x="3096167" y="4366143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/>
            <p:cNvCxnSpPr/>
            <p:nvPr/>
          </p:nvCxnSpPr>
          <p:spPr>
            <a:xfrm flipV="1">
              <a:off x="2926233" y="4629867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/>
            <p:cNvCxnSpPr/>
            <p:nvPr/>
          </p:nvCxnSpPr>
          <p:spPr>
            <a:xfrm flipV="1">
              <a:off x="2926233" y="4366143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/>
          <p:cNvGrpSpPr/>
          <p:nvPr/>
        </p:nvGrpSpPr>
        <p:grpSpPr>
          <a:xfrm rot="20793346">
            <a:off x="4995630" y="4410780"/>
            <a:ext cx="436970" cy="426920"/>
            <a:chOff x="3381121" y="4885577"/>
            <a:chExt cx="436970" cy="426920"/>
          </a:xfrm>
        </p:grpSpPr>
        <p:cxnSp>
          <p:nvCxnSpPr>
            <p:cNvPr id="19" name="直線コネクタ 18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/>
          <p:cNvGrpSpPr/>
          <p:nvPr/>
        </p:nvGrpSpPr>
        <p:grpSpPr>
          <a:xfrm rot="5856494">
            <a:off x="4955242" y="1936978"/>
            <a:ext cx="436970" cy="426920"/>
            <a:chOff x="3381121" y="4885577"/>
            <a:chExt cx="436970" cy="426920"/>
          </a:xfrm>
        </p:grpSpPr>
        <p:cxnSp>
          <p:nvCxnSpPr>
            <p:cNvPr id="24" name="直線コネクタ 23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/>
          <p:cNvGrpSpPr/>
          <p:nvPr/>
        </p:nvGrpSpPr>
        <p:grpSpPr>
          <a:xfrm rot="17009884">
            <a:off x="6717243" y="4338035"/>
            <a:ext cx="436970" cy="426920"/>
            <a:chOff x="3381121" y="4885577"/>
            <a:chExt cx="436970" cy="426920"/>
          </a:xfrm>
        </p:grpSpPr>
        <p:cxnSp>
          <p:nvCxnSpPr>
            <p:cNvPr id="28" name="直線コネクタ 27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グループ化 30"/>
          <p:cNvGrpSpPr/>
          <p:nvPr/>
        </p:nvGrpSpPr>
        <p:grpSpPr>
          <a:xfrm rot="10589131">
            <a:off x="6983887" y="2381932"/>
            <a:ext cx="436970" cy="426920"/>
            <a:chOff x="3381121" y="4885577"/>
            <a:chExt cx="436970" cy="426920"/>
          </a:xfrm>
        </p:grpSpPr>
        <p:cxnSp>
          <p:nvCxnSpPr>
            <p:cNvPr id="32" name="直線コネクタ 31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グループ化 34"/>
          <p:cNvGrpSpPr/>
          <p:nvPr/>
        </p:nvGrpSpPr>
        <p:grpSpPr>
          <a:xfrm rot="8441671">
            <a:off x="5955824" y="1785863"/>
            <a:ext cx="436970" cy="426920"/>
            <a:chOff x="3381121" y="4885577"/>
            <a:chExt cx="436970" cy="426920"/>
          </a:xfrm>
        </p:grpSpPr>
        <p:cxnSp>
          <p:nvCxnSpPr>
            <p:cNvPr id="36" name="直線コネクタ 35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グループ化 38"/>
          <p:cNvGrpSpPr/>
          <p:nvPr/>
        </p:nvGrpSpPr>
        <p:grpSpPr>
          <a:xfrm rot="14258682">
            <a:off x="7215047" y="3495915"/>
            <a:ext cx="436970" cy="426920"/>
            <a:chOff x="3381121" y="4885577"/>
            <a:chExt cx="436970" cy="426920"/>
          </a:xfrm>
        </p:grpSpPr>
        <p:cxnSp>
          <p:nvCxnSpPr>
            <p:cNvPr id="40" name="直線コネクタ 39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グループ化 42"/>
          <p:cNvGrpSpPr/>
          <p:nvPr/>
        </p:nvGrpSpPr>
        <p:grpSpPr>
          <a:xfrm rot="3735886">
            <a:off x="4331020" y="2820716"/>
            <a:ext cx="436970" cy="426920"/>
            <a:chOff x="3381121" y="4885577"/>
            <a:chExt cx="436970" cy="426920"/>
          </a:xfrm>
        </p:grpSpPr>
        <p:cxnSp>
          <p:nvCxnSpPr>
            <p:cNvPr id="44" name="直線コネクタ 43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グループ化 46"/>
          <p:cNvGrpSpPr/>
          <p:nvPr/>
        </p:nvGrpSpPr>
        <p:grpSpPr>
          <a:xfrm rot="19182551">
            <a:off x="5731091" y="4639169"/>
            <a:ext cx="436970" cy="426920"/>
            <a:chOff x="3381121" y="4885577"/>
            <a:chExt cx="436970" cy="426920"/>
          </a:xfrm>
        </p:grpSpPr>
        <p:cxnSp>
          <p:nvCxnSpPr>
            <p:cNvPr id="48" name="直線コネクタ 47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グループ化 51"/>
          <p:cNvGrpSpPr/>
          <p:nvPr/>
        </p:nvGrpSpPr>
        <p:grpSpPr>
          <a:xfrm rot="17009884">
            <a:off x="6785732" y="4447285"/>
            <a:ext cx="436970" cy="426920"/>
            <a:chOff x="3381121" y="4885577"/>
            <a:chExt cx="436970" cy="426920"/>
          </a:xfrm>
        </p:grpSpPr>
        <p:cxnSp>
          <p:nvCxnSpPr>
            <p:cNvPr id="53" name="直線コネクタ 52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/>
          <p:cNvGrpSpPr/>
          <p:nvPr/>
        </p:nvGrpSpPr>
        <p:grpSpPr>
          <a:xfrm rot="8472611">
            <a:off x="5964415" y="1663578"/>
            <a:ext cx="436970" cy="426920"/>
            <a:chOff x="3381121" y="4885577"/>
            <a:chExt cx="436970" cy="426920"/>
          </a:xfrm>
        </p:grpSpPr>
        <p:cxnSp>
          <p:nvCxnSpPr>
            <p:cNvPr id="57" name="直線コネクタ 56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フローチャート: 手作業 64"/>
          <p:cNvSpPr/>
          <p:nvPr/>
        </p:nvSpPr>
        <p:spPr>
          <a:xfrm rot="889492">
            <a:off x="4757098" y="5445332"/>
            <a:ext cx="1523134" cy="513181"/>
          </a:xfrm>
          <a:prstGeom prst="flowChartManualOperation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solidFill>
                  <a:schemeClr val="accent5"/>
                </a:solidFill>
              </a:rPr>
              <a:t>Projector</a:t>
            </a:r>
            <a:r>
              <a:rPr lang="ja-JP" altLang="en-US" sz="1400" dirty="0">
                <a:solidFill>
                  <a:schemeClr val="accent5"/>
                </a:solidFill>
              </a:rPr>
              <a:t> </a:t>
            </a:r>
            <a:r>
              <a:rPr lang="en-US" altLang="ja-JP" sz="1400" dirty="0" smtClean="0">
                <a:solidFill>
                  <a:schemeClr val="accent5"/>
                </a:solidFill>
              </a:rPr>
              <a:t>Position 1</a:t>
            </a:r>
            <a:endParaRPr kumimoji="1" lang="ja-JP" altLang="en-US" sz="1400" dirty="0">
              <a:solidFill>
                <a:schemeClr val="accent5"/>
              </a:solidFill>
            </a:endParaRPr>
          </a:p>
        </p:txBody>
      </p:sp>
      <p:sp>
        <p:nvSpPr>
          <p:cNvPr id="66" name="フローチャート: 手作業 65"/>
          <p:cNvSpPr/>
          <p:nvPr/>
        </p:nvSpPr>
        <p:spPr>
          <a:xfrm rot="15381966">
            <a:off x="7708098" y="2443201"/>
            <a:ext cx="1508509" cy="513181"/>
          </a:xfrm>
          <a:prstGeom prst="flowChartManualOperation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6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6"/>
                </a:solidFill>
              </a:rPr>
              <a:t>2</a:t>
            </a:r>
            <a:endParaRPr lang="en-US" altLang="ja-JP" sz="1400" dirty="0">
              <a:solidFill>
                <a:schemeClr val="accent6"/>
              </a:solidFill>
            </a:endParaRPr>
          </a:p>
        </p:txBody>
      </p:sp>
      <p:sp>
        <p:nvSpPr>
          <p:cNvPr id="67" name="フローチャート: 手作業 66"/>
          <p:cNvSpPr/>
          <p:nvPr/>
        </p:nvSpPr>
        <p:spPr>
          <a:xfrm rot="7779247">
            <a:off x="3545576" y="1393020"/>
            <a:ext cx="1523806" cy="513181"/>
          </a:xfrm>
          <a:prstGeom prst="flowChartManualOperation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2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2"/>
                </a:solidFill>
              </a:rPr>
              <a:t>3</a:t>
            </a:r>
            <a:endParaRPr kumimoji="1" lang="ja-JP" altLang="en-US" sz="1400" dirty="0">
              <a:solidFill>
                <a:schemeClr val="accent2"/>
              </a:solidFill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4520192" y="4138328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1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5221029" y="4692364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2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6011555" y="480343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3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7100258" y="424437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4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7178470" y="452860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6"/>
                </a:solidFill>
              </a:rPr>
              <a:t>1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7467465" y="3292606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2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6975260" y="214546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3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6334792" y="1912096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4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6320741" y="1658991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1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5203307" y="1787264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2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4370224" y="2580111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3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90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lang="ja-JP" altLang="en-US" dirty="0" smtClean="0"/>
              <a:t>時間比較</a:t>
            </a:r>
            <a:endParaRPr lang="en-US" altLang="ja-JP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10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ja-JP" altLang="en-US" dirty="0"/>
              <a:t>実験時間を</a:t>
            </a:r>
            <a:r>
              <a:rPr lang="ja-JP" altLang="en-US" dirty="0" smtClean="0"/>
              <a:t>減らす</a:t>
            </a:r>
            <a:r>
              <a:rPr lang="ja-JP" altLang="en-US" dirty="0"/>
              <a:t>ため，様々な手段</a:t>
            </a:r>
            <a:r>
              <a:rPr lang="ja-JP" altLang="en-US" dirty="0" smtClean="0"/>
              <a:t>を試した</a:t>
            </a:r>
            <a:endParaRPr lang="ja-JP" altLang="en-US" dirty="0"/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796291"/>
              </p:ext>
            </p:extLst>
          </p:nvPr>
        </p:nvGraphicFramePr>
        <p:xfrm>
          <a:off x="628650" y="3004659"/>
          <a:ext cx="7051379" cy="238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5303">
                  <a:extLst>
                    <a:ext uri="{9D8B030D-6E8A-4147-A177-3AD203B41FA5}">
                      <a16:colId xmlns:a16="http://schemas.microsoft.com/office/drawing/2014/main" val="2314225834"/>
                    </a:ext>
                  </a:extLst>
                </a:gridCol>
                <a:gridCol w="1483019">
                  <a:extLst>
                    <a:ext uri="{9D8B030D-6E8A-4147-A177-3AD203B41FA5}">
                      <a16:colId xmlns:a16="http://schemas.microsoft.com/office/drawing/2014/main" val="1384327650"/>
                    </a:ext>
                  </a:extLst>
                </a:gridCol>
                <a:gridCol w="1083448">
                  <a:extLst>
                    <a:ext uri="{9D8B030D-6E8A-4147-A177-3AD203B41FA5}">
                      <a16:colId xmlns:a16="http://schemas.microsoft.com/office/drawing/2014/main" val="3910339391"/>
                    </a:ext>
                  </a:extLst>
                </a:gridCol>
                <a:gridCol w="2082373">
                  <a:extLst>
                    <a:ext uri="{9D8B030D-6E8A-4147-A177-3AD203B41FA5}">
                      <a16:colId xmlns:a16="http://schemas.microsoft.com/office/drawing/2014/main" val="459408231"/>
                    </a:ext>
                  </a:extLst>
                </a:gridCol>
                <a:gridCol w="1137236">
                  <a:extLst>
                    <a:ext uri="{9D8B030D-6E8A-4147-A177-3AD203B41FA5}">
                      <a16:colId xmlns:a16="http://schemas.microsoft.com/office/drawing/2014/main" val="9769836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 smtClean="0"/>
                        <a:t>以前</a:t>
                      </a:r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 smtClean="0"/>
                        <a:t>今回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69889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ja-JP" altLang="en-US" sz="1600" dirty="0" smtClean="0"/>
                        <a:t>撮影</a:t>
                      </a:r>
                      <a:endParaRPr kumimoji="1" lang="ja-JP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dirty="0" smtClean="0"/>
                        <a:t>30</a:t>
                      </a:r>
                      <a:r>
                        <a:rPr lang="ja-JP" altLang="en-US" sz="1600" dirty="0" smtClean="0"/>
                        <a:t>分ほど</a:t>
                      </a:r>
                      <a:endParaRPr lang="en-US" altLang="ja-JP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 smtClean="0"/>
                        <a:t>カメラ視点を減らす</a:t>
                      </a:r>
                      <a:endParaRPr kumimoji="1" lang="en-US" altLang="ja-JP" sz="1600" dirty="0" smtClean="0"/>
                    </a:p>
                    <a:p>
                      <a:pPr algn="ctr"/>
                      <a:r>
                        <a:rPr kumimoji="1" lang="ja-JP" altLang="en-US" sz="1600" dirty="0" smtClean="0"/>
                        <a:t>（</a:t>
                      </a:r>
                      <a:r>
                        <a:rPr kumimoji="1" lang="en-US" altLang="ja-JP" sz="1600" dirty="0" smtClean="0"/>
                        <a:t>20</a:t>
                      </a:r>
                      <a:r>
                        <a:rPr kumimoji="1" lang="ja-JP" altLang="en-US" sz="1600" dirty="0" smtClean="0"/>
                        <a:t>組＝＞</a:t>
                      </a:r>
                      <a:r>
                        <a:rPr kumimoji="1" lang="en-US" altLang="ja-JP" sz="1600" dirty="0" smtClean="0"/>
                        <a:t>12</a:t>
                      </a:r>
                      <a:r>
                        <a:rPr kumimoji="1" lang="ja-JP" altLang="en-US" sz="1600" dirty="0" smtClean="0"/>
                        <a:t>組）</a:t>
                      </a:r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dirty="0" smtClean="0"/>
                        <a:t>20</a:t>
                      </a:r>
                      <a:r>
                        <a:rPr lang="ja-JP" altLang="en-US" sz="1600" dirty="0" smtClean="0"/>
                        <a:t>分ほど</a:t>
                      </a:r>
                      <a:endParaRPr lang="en-US" altLang="ja-JP" sz="16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61945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ja-JP" altLang="en-US" sz="1600" dirty="0" smtClean="0"/>
                        <a:t>プログラム実行</a:t>
                      </a:r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dirty="0" smtClean="0"/>
                        <a:t>デコード</a:t>
                      </a:r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dirty="0" smtClean="0"/>
                        <a:t>16</a:t>
                      </a:r>
                      <a:r>
                        <a:rPr lang="ja-JP" altLang="en-US" sz="1600" dirty="0" smtClean="0"/>
                        <a:t>分</a:t>
                      </a:r>
                      <a:endParaRPr lang="en-US" altLang="ja-JP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 smtClean="0"/>
                        <a:t>並列計算</a:t>
                      </a:r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2</a:t>
                      </a:r>
                      <a:r>
                        <a:rPr lang="ja-JP" altLang="en-US" sz="1600" dirty="0" smtClean="0"/>
                        <a:t>分</a:t>
                      </a:r>
                      <a:endParaRPr lang="en-US" altLang="ja-JP" sz="16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9577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dirty="0" smtClean="0"/>
                        <a:t>Code</a:t>
                      </a:r>
                      <a:r>
                        <a:rPr lang="ja-JP" altLang="en-US" sz="1600" dirty="0" smtClean="0"/>
                        <a:t> </a:t>
                      </a:r>
                      <a:r>
                        <a:rPr lang="en-US" altLang="ja-JP" sz="1600" dirty="0" smtClean="0"/>
                        <a:t>Map</a:t>
                      </a:r>
                      <a:r>
                        <a:rPr lang="ja-JP" altLang="en-US" sz="1600" dirty="0" smtClean="0"/>
                        <a:t>計算</a:t>
                      </a:r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dirty="0" smtClean="0"/>
                        <a:t>4</a:t>
                      </a:r>
                      <a:r>
                        <a:rPr lang="ja-JP" altLang="en-US" sz="1600" dirty="0" smtClean="0"/>
                        <a:t>分</a:t>
                      </a:r>
                      <a:endParaRPr lang="en-US" altLang="ja-JP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 smtClean="0"/>
                        <a:t>（ファイルの読み込み方法、データ構造の設計など）プログラムの最適化</a:t>
                      </a:r>
                      <a:endParaRPr kumimoji="1" lang="ja-JP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2</a:t>
                      </a:r>
                      <a:r>
                        <a:rPr lang="ja-JP" altLang="en-US" sz="1600" dirty="0" smtClean="0"/>
                        <a:t>分</a:t>
                      </a:r>
                      <a:endParaRPr lang="en-US" altLang="ja-JP" sz="16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381456"/>
                  </a:ext>
                </a:extLst>
              </a:tr>
            </a:tbl>
          </a:graphicData>
        </a:graphic>
      </p:graphicFrame>
      <p:sp>
        <p:nvSpPr>
          <p:cNvPr id="6" name="右矢印 5"/>
          <p:cNvSpPr/>
          <p:nvPr/>
        </p:nvSpPr>
        <p:spPr>
          <a:xfrm>
            <a:off x="5021355" y="3027711"/>
            <a:ext cx="929767" cy="295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94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下矢印 138"/>
          <p:cNvSpPr/>
          <p:nvPr/>
        </p:nvSpPr>
        <p:spPr>
          <a:xfrm>
            <a:off x="7277196" y="2804672"/>
            <a:ext cx="437670" cy="31581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下矢印 137"/>
          <p:cNvSpPr/>
          <p:nvPr/>
        </p:nvSpPr>
        <p:spPr>
          <a:xfrm>
            <a:off x="4242613" y="2815285"/>
            <a:ext cx="437670" cy="31581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下矢印 136"/>
          <p:cNvSpPr/>
          <p:nvPr/>
        </p:nvSpPr>
        <p:spPr>
          <a:xfrm>
            <a:off x="1923950" y="2804672"/>
            <a:ext cx="437670" cy="31581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デコード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/>
          <a:lstStyle/>
          <a:p>
            <a:r>
              <a:rPr lang="ja-JP" altLang="en-US" dirty="0"/>
              <a:t>並列</a:t>
            </a:r>
            <a:r>
              <a:rPr lang="ja-JP" altLang="en-US" dirty="0" smtClean="0"/>
              <a:t>計算</a:t>
            </a:r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sz="1800" dirty="0" smtClean="0"/>
          </a:p>
          <a:p>
            <a:r>
              <a:rPr lang="ja-JP" altLang="en-US" sz="1800" dirty="0" smtClean="0"/>
              <a:t>デコードの計算が複数のスレッドに与えられ，一緒に実行される。</a:t>
            </a:r>
            <a:endParaRPr lang="ja-JP" altLang="en-US" sz="1800" dirty="0"/>
          </a:p>
          <a:p>
            <a:endParaRPr lang="ja-JP" altLang="en-US" sz="1800" dirty="0"/>
          </a:p>
          <a:p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5</a:t>
            </a:fld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84" y="3160157"/>
            <a:ext cx="1091822" cy="818866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892" y="3283602"/>
            <a:ext cx="1085792" cy="814344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303" y="3399825"/>
            <a:ext cx="1088229" cy="816172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737" y="3533037"/>
            <a:ext cx="1086644" cy="814983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568" y="3685286"/>
            <a:ext cx="1073053" cy="804790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826" y="3819477"/>
            <a:ext cx="1069636" cy="802227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587" y="3981244"/>
            <a:ext cx="1069256" cy="801942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190" y="4138662"/>
            <a:ext cx="1068698" cy="801523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901" y="4269444"/>
            <a:ext cx="1088959" cy="816719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644" y="4413711"/>
            <a:ext cx="1068626" cy="801470"/>
          </a:xfrm>
          <a:prstGeom prst="rect">
            <a:avLst/>
          </a:prstGeom>
        </p:spPr>
      </p:pic>
      <p:sp>
        <p:nvSpPr>
          <p:cNvPr id="15" name="正方形/長方形 14"/>
          <p:cNvSpPr/>
          <p:nvPr/>
        </p:nvSpPr>
        <p:spPr>
          <a:xfrm flipH="1">
            <a:off x="2769888" y="4744124"/>
            <a:ext cx="64333" cy="66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/>
          <p:cNvCxnSpPr>
            <a:endCxn id="15" idx="0"/>
          </p:cNvCxnSpPr>
          <p:nvPr/>
        </p:nvCxnSpPr>
        <p:spPr>
          <a:xfrm>
            <a:off x="2802054" y="4411164"/>
            <a:ext cx="0" cy="3329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/>
          <p:nvPr/>
        </p:nvCxnSpPr>
        <p:spPr>
          <a:xfrm>
            <a:off x="2802054" y="4814785"/>
            <a:ext cx="0" cy="4003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 flipH="1">
            <a:off x="2646953" y="4260641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 flipH="1">
            <a:off x="1369832" y="3147256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 flipH="1">
            <a:off x="1529534" y="3267835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 flipH="1">
            <a:off x="1677900" y="3402263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 flipH="1">
            <a:off x="1800704" y="3529771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 flipH="1">
            <a:off x="1923950" y="3685682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 flipH="1">
            <a:off x="2113702" y="3825258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 flipH="1">
            <a:off x="2302731" y="3985004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 flipH="1">
            <a:off x="2456512" y="4133454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/>
          <p:cNvSpPr txBox="1"/>
          <p:nvPr/>
        </p:nvSpPr>
        <p:spPr>
          <a:xfrm>
            <a:off x="2520497" y="4301266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843286" y="3704744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270589" y="3148177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1097538" y="3005942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2039640" y="3869764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2179401" y="4012920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375842" y="4151285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1407151" y="3278891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1658087" y="3566352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1534366" y="3410716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pic>
        <p:nvPicPr>
          <p:cNvPr id="37" name="図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222" y="3157610"/>
            <a:ext cx="1091822" cy="818866"/>
          </a:xfrm>
          <a:prstGeom prst="rect">
            <a:avLst/>
          </a:prstGeom>
        </p:spPr>
      </p:pic>
      <p:pic>
        <p:nvPicPr>
          <p:cNvPr id="38" name="図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430" y="3281055"/>
            <a:ext cx="1085792" cy="814344"/>
          </a:xfrm>
          <a:prstGeom prst="rect">
            <a:avLst/>
          </a:prstGeom>
        </p:spPr>
      </p:pic>
      <p:pic>
        <p:nvPicPr>
          <p:cNvPr id="39" name="図 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41" y="3397278"/>
            <a:ext cx="1088229" cy="816172"/>
          </a:xfrm>
          <a:prstGeom prst="rect">
            <a:avLst/>
          </a:prstGeom>
        </p:spPr>
      </p:pic>
      <p:pic>
        <p:nvPicPr>
          <p:cNvPr id="40" name="図 3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275" y="3530490"/>
            <a:ext cx="1086644" cy="814983"/>
          </a:xfrm>
          <a:prstGeom prst="rect">
            <a:avLst/>
          </a:prstGeom>
        </p:spPr>
      </p:pic>
      <p:pic>
        <p:nvPicPr>
          <p:cNvPr id="41" name="図 4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106" y="3682739"/>
            <a:ext cx="1073053" cy="804790"/>
          </a:xfrm>
          <a:prstGeom prst="rect">
            <a:avLst/>
          </a:prstGeom>
        </p:spPr>
      </p:pic>
      <p:pic>
        <p:nvPicPr>
          <p:cNvPr id="42" name="図 4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364" y="3816930"/>
            <a:ext cx="1069636" cy="802227"/>
          </a:xfrm>
          <a:prstGeom prst="rect">
            <a:avLst/>
          </a:prstGeom>
        </p:spPr>
      </p:pic>
      <p:pic>
        <p:nvPicPr>
          <p:cNvPr id="43" name="図 4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125" y="3978697"/>
            <a:ext cx="1069256" cy="801942"/>
          </a:xfrm>
          <a:prstGeom prst="rect">
            <a:avLst/>
          </a:prstGeom>
        </p:spPr>
      </p:pic>
      <p:pic>
        <p:nvPicPr>
          <p:cNvPr id="44" name="図 4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728" y="4136115"/>
            <a:ext cx="1068698" cy="801523"/>
          </a:xfrm>
          <a:prstGeom prst="rect">
            <a:avLst/>
          </a:prstGeom>
        </p:spPr>
      </p:pic>
      <p:pic>
        <p:nvPicPr>
          <p:cNvPr id="45" name="図 4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439" y="4266897"/>
            <a:ext cx="1088959" cy="816719"/>
          </a:xfrm>
          <a:prstGeom prst="rect">
            <a:avLst/>
          </a:prstGeom>
        </p:spPr>
      </p:pic>
      <p:pic>
        <p:nvPicPr>
          <p:cNvPr id="46" name="図 4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182" y="4411164"/>
            <a:ext cx="1068626" cy="801470"/>
          </a:xfrm>
          <a:prstGeom prst="rect">
            <a:avLst/>
          </a:prstGeom>
        </p:spPr>
      </p:pic>
      <p:sp>
        <p:nvSpPr>
          <p:cNvPr id="47" name="正方形/長方形 46"/>
          <p:cNvSpPr/>
          <p:nvPr/>
        </p:nvSpPr>
        <p:spPr>
          <a:xfrm flipH="1">
            <a:off x="4799426" y="4741577"/>
            <a:ext cx="64333" cy="66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47"/>
          <p:cNvCxnSpPr>
            <a:endCxn id="47" idx="0"/>
          </p:cNvCxnSpPr>
          <p:nvPr/>
        </p:nvCxnSpPr>
        <p:spPr>
          <a:xfrm>
            <a:off x="4831592" y="4408617"/>
            <a:ext cx="0" cy="3329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/>
          <p:cNvCxnSpPr/>
          <p:nvPr/>
        </p:nvCxnSpPr>
        <p:spPr>
          <a:xfrm>
            <a:off x="4831592" y="4812238"/>
            <a:ext cx="0" cy="4003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/>
          <p:cNvCxnSpPr/>
          <p:nvPr/>
        </p:nvCxnSpPr>
        <p:spPr>
          <a:xfrm flipH="1">
            <a:off x="4676491" y="4258094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/>
          <p:cNvCxnSpPr/>
          <p:nvPr/>
        </p:nvCxnSpPr>
        <p:spPr>
          <a:xfrm flipH="1">
            <a:off x="3399370" y="3144709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/>
          <p:cNvCxnSpPr/>
          <p:nvPr/>
        </p:nvCxnSpPr>
        <p:spPr>
          <a:xfrm flipH="1">
            <a:off x="3559072" y="3265288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/>
          <p:cNvCxnSpPr/>
          <p:nvPr/>
        </p:nvCxnSpPr>
        <p:spPr>
          <a:xfrm flipH="1">
            <a:off x="3707438" y="3399716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/>
          <p:cNvCxnSpPr/>
          <p:nvPr/>
        </p:nvCxnSpPr>
        <p:spPr>
          <a:xfrm flipH="1">
            <a:off x="3830242" y="3527224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/>
          <p:cNvCxnSpPr/>
          <p:nvPr/>
        </p:nvCxnSpPr>
        <p:spPr>
          <a:xfrm flipH="1">
            <a:off x="3953488" y="3683135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/>
          <p:cNvCxnSpPr/>
          <p:nvPr/>
        </p:nvCxnSpPr>
        <p:spPr>
          <a:xfrm flipH="1">
            <a:off x="4143240" y="3822711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/>
          <p:cNvCxnSpPr/>
          <p:nvPr/>
        </p:nvCxnSpPr>
        <p:spPr>
          <a:xfrm flipH="1">
            <a:off x="4332269" y="3982457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/>
          <p:cNvCxnSpPr/>
          <p:nvPr/>
        </p:nvCxnSpPr>
        <p:spPr>
          <a:xfrm flipH="1">
            <a:off x="4486050" y="4130907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/>
          <p:cNvSpPr txBox="1"/>
          <p:nvPr/>
        </p:nvSpPr>
        <p:spPr>
          <a:xfrm>
            <a:off x="4550035" y="4298719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3872824" y="3702197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3300127" y="3145630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3164605" y="3026287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4208939" y="4010373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4405380" y="4148738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3436689" y="3276344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3687625" y="3563805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3563904" y="3408169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pic>
        <p:nvPicPr>
          <p:cNvPr id="69" name="図 6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690" y="3160496"/>
            <a:ext cx="1091822" cy="818866"/>
          </a:xfrm>
          <a:prstGeom prst="rect">
            <a:avLst/>
          </a:prstGeom>
        </p:spPr>
      </p:pic>
      <p:pic>
        <p:nvPicPr>
          <p:cNvPr id="70" name="図 6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898" y="3283941"/>
            <a:ext cx="1085792" cy="814344"/>
          </a:xfrm>
          <a:prstGeom prst="rect">
            <a:avLst/>
          </a:prstGeom>
        </p:spPr>
      </p:pic>
      <p:pic>
        <p:nvPicPr>
          <p:cNvPr id="71" name="図 7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09" y="3400164"/>
            <a:ext cx="1088229" cy="816172"/>
          </a:xfrm>
          <a:prstGeom prst="rect">
            <a:avLst/>
          </a:prstGeom>
        </p:spPr>
      </p:pic>
      <p:pic>
        <p:nvPicPr>
          <p:cNvPr id="72" name="図 7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743" y="3533376"/>
            <a:ext cx="1086644" cy="814983"/>
          </a:xfrm>
          <a:prstGeom prst="rect">
            <a:avLst/>
          </a:prstGeom>
        </p:spPr>
      </p:pic>
      <p:pic>
        <p:nvPicPr>
          <p:cNvPr id="73" name="図 7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574" y="3685625"/>
            <a:ext cx="1073053" cy="804790"/>
          </a:xfrm>
          <a:prstGeom prst="rect">
            <a:avLst/>
          </a:prstGeom>
        </p:spPr>
      </p:pic>
      <p:pic>
        <p:nvPicPr>
          <p:cNvPr id="74" name="図 7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832" y="3819816"/>
            <a:ext cx="1069636" cy="802227"/>
          </a:xfrm>
          <a:prstGeom prst="rect">
            <a:avLst/>
          </a:prstGeom>
        </p:spPr>
      </p:pic>
      <p:pic>
        <p:nvPicPr>
          <p:cNvPr id="75" name="図 7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593" y="3981583"/>
            <a:ext cx="1069256" cy="801942"/>
          </a:xfrm>
          <a:prstGeom prst="rect">
            <a:avLst/>
          </a:prstGeom>
        </p:spPr>
      </p:pic>
      <p:pic>
        <p:nvPicPr>
          <p:cNvPr id="76" name="図 7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196" y="4139001"/>
            <a:ext cx="1068698" cy="801523"/>
          </a:xfrm>
          <a:prstGeom prst="rect">
            <a:avLst/>
          </a:prstGeom>
        </p:spPr>
      </p:pic>
      <p:pic>
        <p:nvPicPr>
          <p:cNvPr id="77" name="図 7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907" y="4269783"/>
            <a:ext cx="1088959" cy="816719"/>
          </a:xfrm>
          <a:prstGeom prst="rect">
            <a:avLst/>
          </a:prstGeom>
        </p:spPr>
      </p:pic>
      <p:pic>
        <p:nvPicPr>
          <p:cNvPr id="78" name="図 7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650" y="4414050"/>
            <a:ext cx="1068626" cy="801470"/>
          </a:xfrm>
          <a:prstGeom prst="rect">
            <a:avLst/>
          </a:prstGeom>
        </p:spPr>
      </p:pic>
      <p:sp>
        <p:nvSpPr>
          <p:cNvPr id="79" name="正方形/長方形 78"/>
          <p:cNvSpPr/>
          <p:nvPr/>
        </p:nvSpPr>
        <p:spPr>
          <a:xfrm flipH="1">
            <a:off x="7795894" y="4744463"/>
            <a:ext cx="64333" cy="66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0" name="直線コネクタ 79"/>
          <p:cNvCxnSpPr>
            <a:endCxn id="79" idx="0"/>
          </p:cNvCxnSpPr>
          <p:nvPr/>
        </p:nvCxnSpPr>
        <p:spPr>
          <a:xfrm>
            <a:off x="7828060" y="4411503"/>
            <a:ext cx="0" cy="3329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/>
          <p:cNvCxnSpPr/>
          <p:nvPr/>
        </p:nvCxnSpPr>
        <p:spPr>
          <a:xfrm>
            <a:off x="7828060" y="4815124"/>
            <a:ext cx="0" cy="4003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/>
          <p:cNvCxnSpPr/>
          <p:nvPr/>
        </p:nvCxnSpPr>
        <p:spPr>
          <a:xfrm flipH="1">
            <a:off x="7672959" y="4260980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/>
          <p:cNvCxnSpPr/>
          <p:nvPr/>
        </p:nvCxnSpPr>
        <p:spPr>
          <a:xfrm flipH="1">
            <a:off x="6395838" y="3147595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 flipH="1">
            <a:off x="6555540" y="3268174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/>
          <p:cNvCxnSpPr/>
          <p:nvPr/>
        </p:nvCxnSpPr>
        <p:spPr>
          <a:xfrm flipH="1">
            <a:off x="6703906" y="3402602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 flipH="1">
            <a:off x="6826710" y="3530110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/>
          <p:cNvCxnSpPr/>
          <p:nvPr/>
        </p:nvCxnSpPr>
        <p:spPr>
          <a:xfrm flipH="1">
            <a:off x="6949956" y="3686021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flipH="1">
            <a:off x="7139708" y="3825597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/>
          <p:cNvCxnSpPr/>
          <p:nvPr/>
        </p:nvCxnSpPr>
        <p:spPr>
          <a:xfrm flipH="1">
            <a:off x="7328737" y="3985343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 flipH="1">
            <a:off x="7482518" y="4133793"/>
            <a:ext cx="3524" cy="1362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/>
          <p:cNvSpPr txBox="1"/>
          <p:nvPr/>
        </p:nvSpPr>
        <p:spPr>
          <a:xfrm>
            <a:off x="7546503" y="4301605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92" name="テキスト ボックス 91"/>
          <p:cNvSpPr txBox="1"/>
          <p:nvPr/>
        </p:nvSpPr>
        <p:spPr>
          <a:xfrm>
            <a:off x="6869292" y="3705083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6296595" y="3148516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6123544" y="3006281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95" name="テキスト ボックス 94"/>
          <p:cNvSpPr txBox="1"/>
          <p:nvPr/>
        </p:nvSpPr>
        <p:spPr>
          <a:xfrm>
            <a:off x="7065646" y="3870103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96" name="テキスト ボックス 95"/>
          <p:cNvSpPr txBox="1"/>
          <p:nvPr/>
        </p:nvSpPr>
        <p:spPr>
          <a:xfrm>
            <a:off x="7205407" y="4013259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97" name="テキスト ボックス 96"/>
          <p:cNvSpPr txBox="1"/>
          <p:nvPr/>
        </p:nvSpPr>
        <p:spPr>
          <a:xfrm>
            <a:off x="7401848" y="4151624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98" name="テキスト ボックス 97"/>
          <p:cNvSpPr txBox="1"/>
          <p:nvPr/>
        </p:nvSpPr>
        <p:spPr>
          <a:xfrm>
            <a:off x="6433157" y="3279230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0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99" name="テキスト ボックス 98"/>
          <p:cNvSpPr txBox="1"/>
          <p:nvPr/>
        </p:nvSpPr>
        <p:spPr>
          <a:xfrm>
            <a:off x="6684093" y="3566691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100" name="テキスト ボックス 99"/>
          <p:cNvSpPr txBox="1"/>
          <p:nvPr/>
        </p:nvSpPr>
        <p:spPr>
          <a:xfrm>
            <a:off x="6560372" y="3411055"/>
            <a:ext cx="28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rgbClr val="FFFF00"/>
                </a:solidFill>
              </a:rPr>
              <a:t>1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131" name="テキスト ボックス 130"/>
          <p:cNvSpPr txBox="1"/>
          <p:nvPr/>
        </p:nvSpPr>
        <p:spPr>
          <a:xfrm>
            <a:off x="297501" y="4220590"/>
            <a:ext cx="960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/>
              <a:t>デコード</a:t>
            </a:r>
            <a:endParaRPr kumimoji="1" lang="ja-JP" altLang="en-US" sz="1100" dirty="0"/>
          </a:p>
        </p:txBody>
      </p:sp>
      <p:sp>
        <p:nvSpPr>
          <p:cNvPr id="132" name="テキスト ボックス 131"/>
          <p:cNvSpPr txBox="1"/>
          <p:nvPr/>
        </p:nvSpPr>
        <p:spPr>
          <a:xfrm>
            <a:off x="1581930" y="5312146"/>
            <a:ext cx="960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 smtClean="0"/>
              <a:t>スレッド </a:t>
            </a:r>
            <a:r>
              <a:rPr lang="en-US" altLang="zh-CN" sz="1100" dirty="0" smtClean="0"/>
              <a:t>1</a:t>
            </a:r>
            <a:endParaRPr kumimoji="1" lang="ja-JP" altLang="en-US" sz="1100" dirty="0"/>
          </a:p>
        </p:txBody>
      </p:sp>
      <p:sp>
        <p:nvSpPr>
          <p:cNvPr id="133" name="テキスト ボックス 132"/>
          <p:cNvSpPr txBox="1"/>
          <p:nvPr/>
        </p:nvSpPr>
        <p:spPr>
          <a:xfrm>
            <a:off x="4005565" y="5309216"/>
            <a:ext cx="960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 smtClean="0"/>
              <a:t>スレッド </a:t>
            </a:r>
            <a:r>
              <a:rPr lang="en-US" altLang="zh-CN" sz="1100" dirty="0" smtClean="0"/>
              <a:t>2</a:t>
            </a:r>
            <a:endParaRPr kumimoji="1" lang="ja-JP" altLang="en-US" sz="1100" dirty="0"/>
          </a:p>
        </p:txBody>
      </p:sp>
      <p:sp>
        <p:nvSpPr>
          <p:cNvPr id="134" name="テキスト ボックス 133"/>
          <p:cNvSpPr txBox="1"/>
          <p:nvPr/>
        </p:nvSpPr>
        <p:spPr>
          <a:xfrm>
            <a:off x="7099373" y="5315464"/>
            <a:ext cx="960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 smtClean="0"/>
              <a:t>スレッド </a:t>
            </a:r>
            <a:r>
              <a:rPr lang="en-US" altLang="zh-CN" sz="1100" dirty="0" smtClean="0"/>
              <a:t>N</a:t>
            </a:r>
            <a:endParaRPr kumimoji="1" lang="ja-JP" altLang="en-US" sz="1100" dirty="0"/>
          </a:p>
        </p:txBody>
      </p:sp>
      <p:sp>
        <p:nvSpPr>
          <p:cNvPr id="135" name="テキスト ボックス 134"/>
          <p:cNvSpPr txBox="1"/>
          <p:nvPr/>
        </p:nvSpPr>
        <p:spPr>
          <a:xfrm>
            <a:off x="5788976" y="4118058"/>
            <a:ext cx="34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 smtClean="0"/>
              <a:t>…</a:t>
            </a:r>
            <a:endParaRPr kumimoji="1" lang="ja-JP" altLang="en-US" sz="1100" dirty="0"/>
          </a:p>
        </p:txBody>
      </p:sp>
      <p:sp>
        <p:nvSpPr>
          <p:cNvPr id="136" name="正方形/長方形 135"/>
          <p:cNvSpPr/>
          <p:nvPr/>
        </p:nvSpPr>
        <p:spPr>
          <a:xfrm>
            <a:off x="1062684" y="2282158"/>
            <a:ext cx="7022165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CPU</a:t>
            </a:r>
            <a:endParaRPr kumimoji="1" lang="ja-JP" altLang="en-US" dirty="0"/>
          </a:p>
        </p:txBody>
      </p:sp>
      <p:sp>
        <p:nvSpPr>
          <p:cNvPr id="110" name="テキスト ボックス 109"/>
          <p:cNvSpPr txBox="1"/>
          <p:nvPr/>
        </p:nvSpPr>
        <p:spPr>
          <a:xfrm>
            <a:off x="1578358" y="2835388"/>
            <a:ext cx="960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b="1" dirty="0" smtClean="0"/>
              <a:t>カメラ </a:t>
            </a:r>
            <a:r>
              <a:rPr lang="en-US" altLang="zh-CN" sz="1100" b="1" dirty="0" smtClean="0"/>
              <a:t>1</a:t>
            </a:r>
            <a:endParaRPr kumimoji="1" lang="ja-JP" altLang="en-US" sz="1100" b="1" dirty="0"/>
          </a:p>
        </p:txBody>
      </p:sp>
      <p:sp>
        <p:nvSpPr>
          <p:cNvPr id="111" name="テキスト ボックス 110"/>
          <p:cNvSpPr txBox="1"/>
          <p:nvPr/>
        </p:nvSpPr>
        <p:spPr>
          <a:xfrm>
            <a:off x="3982699" y="2834437"/>
            <a:ext cx="960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b="1" dirty="0" smtClean="0"/>
              <a:t>カメラ </a:t>
            </a:r>
            <a:r>
              <a:rPr lang="en-US" altLang="ja-JP" sz="1100" b="1" dirty="0"/>
              <a:t>2</a:t>
            </a:r>
            <a:endParaRPr kumimoji="1" lang="ja-JP" altLang="en-US" sz="1100" b="1" dirty="0"/>
          </a:p>
        </p:txBody>
      </p:sp>
      <p:sp>
        <p:nvSpPr>
          <p:cNvPr id="112" name="テキスト ボックス 111"/>
          <p:cNvSpPr txBox="1"/>
          <p:nvPr/>
        </p:nvSpPr>
        <p:spPr>
          <a:xfrm>
            <a:off x="7068703" y="2842808"/>
            <a:ext cx="960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b="1" dirty="0" smtClean="0"/>
              <a:t>カメラ </a:t>
            </a:r>
            <a:r>
              <a:rPr lang="en-US" altLang="zh-CN" sz="1100" b="1" dirty="0" smtClean="0"/>
              <a:t>N</a:t>
            </a:r>
            <a:endParaRPr kumimoji="1" lang="ja-JP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3704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デコード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並列</a:t>
            </a:r>
            <a:r>
              <a:rPr lang="ja-JP" altLang="en-US" dirty="0" smtClean="0"/>
              <a:t>計算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実験情報</a:t>
            </a:r>
            <a:endParaRPr lang="en-US" altLang="ja-JP" dirty="0"/>
          </a:p>
          <a:p>
            <a:pPr lvl="2"/>
            <a:r>
              <a:rPr lang="ja-JP" altLang="en-US" sz="1800" dirty="0" smtClean="0"/>
              <a:t>画像　</a:t>
            </a:r>
            <a:r>
              <a:rPr lang="en-US" altLang="ja-JP" sz="1800" dirty="0" smtClean="0"/>
              <a:t>20</a:t>
            </a:r>
            <a:r>
              <a:rPr lang="ja-JP" altLang="en-US" sz="1800" dirty="0" smtClean="0"/>
              <a:t>組</a:t>
            </a:r>
            <a:endParaRPr lang="en-US" altLang="ja-JP" sz="1800" dirty="0" smtClean="0"/>
          </a:p>
          <a:p>
            <a:pPr lvl="2"/>
            <a:r>
              <a:rPr lang="en-US" altLang="ja-JP" sz="1800" dirty="0" smtClean="0"/>
              <a:t>CPU</a:t>
            </a:r>
            <a:r>
              <a:rPr lang="ja-JP" altLang="en-US" sz="1800" dirty="0" smtClean="0"/>
              <a:t>　</a:t>
            </a:r>
            <a:r>
              <a:rPr lang="en-US" altLang="ja-JP" sz="1800" dirty="0" smtClean="0"/>
              <a:t>Intel Core i7-6800K 3.40GHz</a:t>
            </a:r>
            <a:r>
              <a:rPr lang="ja-JP" altLang="en-US" sz="1800" dirty="0" smtClean="0"/>
              <a:t>　コア　６</a:t>
            </a:r>
            <a:endParaRPr lang="en-US" altLang="ja-JP" sz="1800" dirty="0" smtClean="0"/>
          </a:p>
          <a:p>
            <a:pPr lvl="2"/>
            <a:r>
              <a:rPr lang="ja-JP" altLang="en-US" sz="1800" dirty="0" smtClean="0"/>
              <a:t>メモリ　</a:t>
            </a:r>
            <a:r>
              <a:rPr lang="en-US" altLang="zh-CN" sz="1800" dirty="0" smtClean="0"/>
              <a:t>64GB</a:t>
            </a:r>
          </a:p>
          <a:p>
            <a:pPr lvl="1"/>
            <a:r>
              <a:rPr lang="ja-JP" altLang="en-US" sz="2200" dirty="0" smtClean="0"/>
              <a:t>結果</a:t>
            </a:r>
            <a:endParaRPr lang="en-US" altLang="ja-JP" sz="2200" dirty="0" smtClean="0"/>
          </a:p>
          <a:p>
            <a:pPr lvl="2"/>
            <a:r>
              <a:rPr lang="ja-JP" altLang="en-US" sz="1800" dirty="0" smtClean="0"/>
              <a:t>実行時間　</a:t>
            </a:r>
            <a:r>
              <a:rPr lang="en-US" altLang="ja-JP" sz="1800" dirty="0" smtClean="0"/>
              <a:t>3</a:t>
            </a:r>
            <a:r>
              <a:rPr lang="ja-JP" altLang="en-US" sz="1800" dirty="0" smtClean="0"/>
              <a:t>分</a:t>
            </a:r>
            <a:r>
              <a:rPr lang="en-US" altLang="ja-JP" sz="1800" dirty="0" smtClean="0"/>
              <a:t>11</a:t>
            </a:r>
            <a:r>
              <a:rPr lang="ja-JP" altLang="en-US" sz="1800" dirty="0" smtClean="0"/>
              <a:t>秒</a:t>
            </a:r>
            <a:endParaRPr lang="en-US" altLang="ja-JP" sz="1800" dirty="0" smtClean="0"/>
          </a:p>
          <a:p>
            <a:pPr lvl="2"/>
            <a:r>
              <a:rPr lang="ja-JP" altLang="en-US" sz="1800" dirty="0" smtClean="0"/>
              <a:t>メモリ使用量　</a:t>
            </a:r>
            <a:r>
              <a:rPr lang="en-US" altLang="zh-CN" sz="1800" dirty="0" smtClean="0"/>
              <a:t>2.3GB</a:t>
            </a:r>
            <a:endParaRPr lang="en-US" altLang="ja-JP" sz="1800" dirty="0" smtClean="0"/>
          </a:p>
          <a:p>
            <a:pPr lvl="1"/>
            <a:endParaRPr lang="ja-JP" altLang="en-US" sz="1800" dirty="0"/>
          </a:p>
          <a:p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035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979187" y="2644565"/>
            <a:ext cx="3433955" cy="31096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カメラ視点を減らす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8" name="コンテンツ プレースホルダー 2"/>
          <p:cNvSpPr txBox="1">
            <a:spLocks/>
          </p:cNvSpPr>
          <p:nvPr/>
        </p:nvSpPr>
        <p:spPr>
          <a:xfrm>
            <a:off x="628650" y="1319002"/>
            <a:ext cx="7886700" cy="4857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 smtClean="0"/>
              <a:t>実験結果（</a:t>
            </a:r>
            <a:r>
              <a:rPr lang="en-US" altLang="ja-JP" dirty="0" smtClean="0"/>
              <a:t>Sparse Reconstruction</a:t>
            </a:r>
            <a:r>
              <a:rPr lang="ja-JP" altLang="en-US" dirty="0" smtClean="0"/>
              <a:t>）</a:t>
            </a:r>
            <a:endParaRPr lang="en-US" altLang="ja-JP" dirty="0" smtClean="0"/>
          </a:p>
          <a:p>
            <a:r>
              <a:rPr lang="ja-JP" altLang="en-US" sz="1800" dirty="0">
                <a:solidFill>
                  <a:prstClr val="black"/>
                </a:solidFill>
              </a:rPr>
              <a:t>実験情報</a:t>
            </a:r>
            <a:r>
              <a:rPr lang="ja-JP" altLang="en-US" sz="1800" dirty="0" smtClean="0">
                <a:solidFill>
                  <a:prstClr val="black"/>
                </a:solidFill>
              </a:rPr>
              <a:t>：</a:t>
            </a:r>
            <a:endParaRPr lang="en-US" altLang="ja-JP" sz="1800" dirty="0" smtClean="0">
              <a:solidFill>
                <a:prstClr val="black"/>
              </a:solidFill>
            </a:endParaRPr>
          </a:p>
          <a:p>
            <a:pPr lvl="1"/>
            <a:r>
              <a:rPr lang="ja-JP" altLang="en-US" sz="1400" dirty="0" smtClean="0">
                <a:solidFill>
                  <a:prstClr val="black"/>
                </a:solidFill>
              </a:rPr>
              <a:t>プロジェクターは四つの方向（前、左、後ろ、右）からパターンを投影した。</a:t>
            </a:r>
            <a:endParaRPr lang="en-US" altLang="ja-JP" sz="1400" dirty="0" smtClean="0">
              <a:solidFill>
                <a:prstClr val="black"/>
              </a:solidFill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1083313" y="5264773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1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1406564" y="5402911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2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2718595" y="5596206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3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3168720" y="5460704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4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3646507" y="5392334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6"/>
                </a:solidFill>
              </a:rPr>
              <a:t>1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4226744" y="5091372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2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4309016" y="3656920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3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4070207" y="3082740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4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3868700" y="2696962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5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540077" y="5252638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5"/>
                </a:solidFill>
              </a:rPr>
              <a:t>5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010466" y="2523290"/>
            <a:ext cx="171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1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297595" y="2523290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2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941160" y="2506757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3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1705913" y="2359254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4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1056999" y="2781737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5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940617" y="2652253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rgbClr val="7030A0"/>
                </a:solidFill>
              </a:rPr>
              <a:t>1</a:t>
            </a:r>
            <a:endParaRPr kumimoji="1" lang="ja-JP" altLang="en-US" dirty="0">
              <a:solidFill>
                <a:srgbClr val="7030A0"/>
              </a:solidFill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803517" y="3193082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rgbClr val="7030A0"/>
                </a:solidFill>
              </a:rPr>
              <a:t>2</a:t>
            </a:r>
            <a:endParaRPr kumimoji="1" lang="ja-JP" altLang="en-US" dirty="0">
              <a:solidFill>
                <a:srgbClr val="7030A0"/>
              </a:solidFill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836490" y="3532559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rgbClr val="7030A0"/>
                </a:solidFill>
              </a:rPr>
              <a:t>3</a:t>
            </a:r>
            <a:endParaRPr kumimoji="1" lang="ja-JP" altLang="en-US" dirty="0">
              <a:solidFill>
                <a:srgbClr val="7030A0"/>
              </a:solidFill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816083" y="4513483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rgbClr val="7030A0"/>
                </a:solidFill>
              </a:rPr>
              <a:t>4</a:t>
            </a:r>
            <a:endParaRPr kumimoji="1" lang="ja-JP" altLang="en-US" dirty="0">
              <a:solidFill>
                <a:srgbClr val="7030A0"/>
              </a:solidFill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875060" y="5062152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rgbClr val="7030A0"/>
                </a:solidFill>
              </a:rPr>
              <a:t>5</a:t>
            </a:r>
            <a:endParaRPr kumimoji="1" lang="ja-JP" altLang="en-US" dirty="0">
              <a:solidFill>
                <a:srgbClr val="7030A0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48871" y="6039491"/>
            <a:ext cx="3160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ja-JP" altLang="en-US" sz="1400" dirty="0">
                <a:solidFill>
                  <a:prstClr val="black"/>
                </a:solidFill>
              </a:rPr>
              <a:t>一つの方向で</a:t>
            </a:r>
            <a:r>
              <a:rPr lang="en-US" altLang="ja-JP" sz="1400" dirty="0" smtClean="0">
                <a:solidFill>
                  <a:prstClr val="black"/>
                </a:solidFill>
              </a:rPr>
              <a:t>5</a:t>
            </a:r>
            <a:r>
              <a:rPr lang="ja-JP" altLang="en-US" sz="1400" dirty="0">
                <a:solidFill>
                  <a:prstClr val="black"/>
                </a:solidFill>
              </a:rPr>
              <a:t>組</a:t>
            </a:r>
            <a:r>
              <a:rPr lang="ja-JP" altLang="en-US" sz="1400" dirty="0" smtClean="0">
                <a:solidFill>
                  <a:prstClr val="black"/>
                </a:solidFill>
              </a:rPr>
              <a:t>，</a:t>
            </a:r>
            <a:r>
              <a:rPr lang="ja-JP" altLang="en-US" sz="1400" dirty="0">
                <a:solidFill>
                  <a:prstClr val="black"/>
                </a:solidFill>
              </a:rPr>
              <a:t>合計で</a:t>
            </a:r>
            <a:r>
              <a:rPr lang="en-US" altLang="ja-JP" sz="1400" dirty="0" smtClean="0">
                <a:solidFill>
                  <a:prstClr val="black"/>
                </a:solidFill>
              </a:rPr>
              <a:t>20</a:t>
            </a:r>
            <a:r>
              <a:rPr lang="ja-JP" altLang="en-US" sz="1400" dirty="0" smtClean="0">
                <a:solidFill>
                  <a:prstClr val="black"/>
                </a:solidFill>
              </a:rPr>
              <a:t>組の画像</a:t>
            </a:r>
            <a:endParaRPr lang="ja-JP" altLang="en-US" sz="1400" dirty="0">
              <a:solidFill>
                <a:prstClr val="black"/>
              </a:solidFill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658" y="2359254"/>
            <a:ext cx="3397458" cy="3454081"/>
          </a:xfrm>
          <a:prstGeom prst="rect">
            <a:avLst/>
          </a:prstGeom>
        </p:spPr>
      </p:pic>
      <p:sp>
        <p:nvSpPr>
          <p:cNvPr id="10" name="右矢印 9"/>
          <p:cNvSpPr/>
          <p:nvPr/>
        </p:nvSpPr>
        <p:spPr>
          <a:xfrm>
            <a:off x="4377033" y="4076279"/>
            <a:ext cx="687658" cy="3227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359855" y="6038317"/>
            <a:ext cx="3160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ja-JP" altLang="en-US" sz="1400" dirty="0">
                <a:solidFill>
                  <a:prstClr val="black"/>
                </a:solidFill>
              </a:rPr>
              <a:t>一つの方向</a:t>
            </a:r>
            <a:r>
              <a:rPr lang="ja-JP" altLang="en-US" sz="1400" dirty="0" smtClean="0">
                <a:solidFill>
                  <a:prstClr val="black"/>
                </a:solidFill>
              </a:rPr>
              <a:t>で</a:t>
            </a:r>
            <a:r>
              <a:rPr lang="en-US" altLang="ja-JP" sz="1400" dirty="0" smtClean="0">
                <a:solidFill>
                  <a:prstClr val="black"/>
                </a:solidFill>
              </a:rPr>
              <a:t>3</a:t>
            </a:r>
            <a:r>
              <a:rPr lang="ja-JP" altLang="en-US" sz="1400" dirty="0">
                <a:solidFill>
                  <a:prstClr val="black"/>
                </a:solidFill>
              </a:rPr>
              <a:t>組</a:t>
            </a:r>
            <a:r>
              <a:rPr lang="ja-JP" altLang="en-US" sz="1400" dirty="0" smtClean="0">
                <a:solidFill>
                  <a:prstClr val="black"/>
                </a:solidFill>
              </a:rPr>
              <a:t>，</a:t>
            </a:r>
            <a:r>
              <a:rPr lang="ja-JP" altLang="en-US" sz="1400" dirty="0">
                <a:solidFill>
                  <a:prstClr val="black"/>
                </a:solidFill>
              </a:rPr>
              <a:t>合計</a:t>
            </a:r>
            <a:r>
              <a:rPr lang="ja-JP" altLang="en-US" sz="1400" dirty="0" smtClean="0">
                <a:solidFill>
                  <a:prstClr val="black"/>
                </a:solidFill>
              </a:rPr>
              <a:t>で</a:t>
            </a:r>
            <a:r>
              <a:rPr lang="en-US" altLang="ja-JP" sz="1400" dirty="0" smtClean="0">
                <a:solidFill>
                  <a:prstClr val="black"/>
                </a:solidFill>
              </a:rPr>
              <a:t>12</a:t>
            </a:r>
            <a:r>
              <a:rPr lang="ja-JP" altLang="en-US" sz="1400" dirty="0" smtClean="0">
                <a:solidFill>
                  <a:prstClr val="black"/>
                </a:solidFill>
              </a:rPr>
              <a:t>組の画像</a:t>
            </a:r>
            <a:endParaRPr lang="ja-JP" altLang="en-US" sz="1400" dirty="0">
              <a:solidFill>
                <a:prstClr val="black"/>
              </a:solidFill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5281513" y="5012906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1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6835801" y="5528102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2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7657283" y="5237078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3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7758634" y="5361431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6"/>
                </a:solidFill>
              </a:rPr>
              <a:t>1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8515350" y="3747982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2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8149753" y="2728586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3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8257618" y="2625337"/>
            <a:ext cx="171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1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7299324" y="2475396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2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5441387" y="2543920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3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5337260" y="2419702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rgbClr val="7030A0"/>
                </a:solidFill>
              </a:rPr>
              <a:t>1</a:t>
            </a:r>
            <a:endParaRPr kumimoji="1" lang="ja-JP" altLang="en-US" dirty="0">
              <a:solidFill>
                <a:srgbClr val="7030A0"/>
              </a:solidFill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5194007" y="3287588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rgbClr val="7030A0"/>
                </a:solidFill>
              </a:rPr>
              <a:t>2</a:t>
            </a:r>
            <a:endParaRPr kumimoji="1" lang="ja-JP" altLang="en-US" dirty="0">
              <a:solidFill>
                <a:srgbClr val="7030A0"/>
              </a:solidFill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5189586" y="4610796"/>
            <a:ext cx="20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rgbClr val="7030A0"/>
                </a:solidFill>
              </a:rPr>
              <a:t>3</a:t>
            </a:r>
            <a:endParaRPr kumimoji="1" lang="ja-JP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38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今後の課題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90525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ループクロージング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提案１</a:t>
            </a:r>
            <a:endParaRPr kumimoji="1" lang="en-US" altLang="ja-JP" dirty="0" smtClean="0"/>
          </a:p>
          <a:p>
            <a:pPr lvl="2"/>
            <a:r>
              <a:rPr lang="ja-JP" altLang="en-US" dirty="0"/>
              <a:t>一番目</a:t>
            </a:r>
            <a:r>
              <a:rPr lang="ja-JP" altLang="en-US" dirty="0" smtClean="0"/>
              <a:t>のカメラ視点から復元された</a:t>
            </a:r>
            <a:r>
              <a:rPr lang="en-US" altLang="ja-JP" dirty="0" smtClean="0"/>
              <a:t>3d</a:t>
            </a:r>
            <a:r>
              <a:rPr lang="ja-JP" altLang="en-US" dirty="0" smtClean="0"/>
              <a:t>点を</a:t>
            </a:r>
            <a:r>
              <a:rPr lang="ja-JP" altLang="en-US" dirty="0"/>
              <a:t>，</a:t>
            </a:r>
            <a:r>
              <a:rPr lang="ja-JP" altLang="en-US" dirty="0" smtClean="0"/>
              <a:t>最後の</a:t>
            </a:r>
            <a:r>
              <a:rPr lang="ja-JP" altLang="en-US" dirty="0"/>
              <a:t>カメラ</a:t>
            </a:r>
            <a:r>
              <a:rPr lang="ja-JP" altLang="en-US" dirty="0" smtClean="0"/>
              <a:t>視点に再投影する。</a:t>
            </a:r>
            <a:endParaRPr kumimoji="1" lang="en-US" altLang="ja-JP" dirty="0" smtClean="0"/>
          </a:p>
          <a:p>
            <a:pPr lvl="2"/>
            <a:r>
              <a:rPr kumimoji="1" lang="en-US" altLang="ja-JP" dirty="0" smtClean="0"/>
              <a:t>SIFT</a:t>
            </a:r>
            <a:r>
              <a:rPr lang="ja-JP" altLang="en-US" dirty="0"/>
              <a:t>など特徴点の</a:t>
            </a:r>
            <a:r>
              <a:rPr lang="ja-JP" altLang="en-US" dirty="0" smtClean="0"/>
              <a:t>検出アルゴリズムを利用し，この二つ画像の特徴点</a:t>
            </a:r>
            <a:r>
              <a:rPr lang="ja-JP" altLang="en-US" dirty="0"/>
              <a:t>を探す</a:t>
            </a:r>
            <a:r>
              <a:rPr lang="ja-JP" altLang="en-US" dirty="0" smtClean="0"/>
              <a:t>。</a:t>
            </a:r>
            <a:endParaRPr lang="en-US" altLang="ja-JP" dirty="0" smtClean="0"/>
          </a:p>
          <a:p>
            <a:pPr lvl="2"/>
            <a:r>
              <a:rPr kumimoji="1" lang="ja-JP" altLang="en-US" dirty="0" smtClean="0"/>
              <a:t>投影点付近の</a:t>
            </a:r>
            <a:r>
              <a:rPr lang="ja-JP" altLang="en-US" dirty="0"/>
              <a:t>特徴点に</a:t>
            </a:r>
            <a:r>
              <a:rPr lang="ja-JP" altLang="en-US" dirty="0" smtClean="0"/>
              <a:t>記述した特徴量を比較</a:t>
            </a:r>
            <a:r>
              <a:rPr lang="ja-JP" altLang="en-US" dirty="0"/>
              <a:t>し，</a:t>
            </a:r>
            <a:r>
              <a:rPr lang="ja-JP" altLang="en-US" dirty="0" smtClean="0"/>
              <a:t>二つ</a:t>
            </a:r>
            <a:r>
              <a:rPr lang="ja-JP" altLang="en-US" dirty="0"/>
              <a:t>プロジェクター位置対応する</a:t>
            </a:r>
            <a:r>
              <a:rPr lang="en-US" altLang="zh-CN" dirty="0" smtClean="0"/>
              <a:t>Code </a:t>
            </a:r>
            <a:r>
              <a:rPr lang="en-US" altLang="zh-CN" dirty="0"/>
              <a:t>Map</a:t>
            </a:r>
            <a:r>
              <a:rPr lang="ja-JP" altLang="en-US" dirty="0"/>
              <a:t>を求める</a:t>
            </a:r>
            <a:r>
              <a:rPr lang="ja-JP" altLang="en-US" dirty="0" smtClean="0"/>
              <a:t>。</a:t>
            </a:r>
            <a:endParaRPr kumimoji="1" lang="en-US" altLang="ja-JP" dirty="0" smtClean="0"/>
          </a:p>
          <a:p>
            <a:pPr lvl="1"/>
            <a:r>
              <a:rPr kumimoji="1" lang="ja-JP" altLang="en-US" dirty="0" smtClean="0"/>
              <a:t>提案２</a:t>
            </a:r>
            <a:endParaRPr kumimoji="1" lang="en-US" altLang="ja-JP" dirty="0" smtClean="0"/>
          </a:p>
          <a:p>
            <a:pPr lvl="2"/>
            <a:r>
              <a:rPr lang="en-US" altLang="ja-JP" dirty="0" smtClean="0"/>
              <a:t>I</a:t>
            </a:r>
            <a:r>
              <a:rPr kumimoji="1" lang="en-US" altLang="ja-JP" dirty="0" smtClean="0"/>
              <a:t>CP</a:t>
            </a:r>
            <a:r>
              <a:rPr kumimoji="1" lang="ja-JP" altLang="en-US" dirty="0" smtClean="0"/>
              <a:t>など手法で，三次元形状の対応点を探す。</a:t>
            </a:r>
            <a:endParaRPr kumimoji="1" lang="en-US" altLang="ja-JP" dirty="0" smtClean="0"/>
          </a:p>
          <a:p>
            <a:pPr lvl="2"/>
            <a:r>
              <a:rPr lang="ja-JP" altLang="en-US" dirty="0" smtClean="0"/>
              <a:t>対応点が</a:t>
            </a:r>
            <a:r>
              <a:rPr kumimoji="1" lang="ja-JP" altLang="en-US" dirty="0" smtClean="0"/>
              <a:t>画像に投影</a:t>
            </a:r>
            <a:r>
              <a:rPr lang="ja-JP" altLang="en-US" dirty="0"/>
              <a:t>した</a:t>
            </a:r>
            <a:r>
              <a:rPr lang="ja-JP" altLang="en-US" dirty="0" smtClean="0"/>
              <a:t>画素を用いて，二つプロジェクター位置対応する</a:t>
            </a:r>
            <a:r>
              <a:rPr lang="en-US" altLang="zh-CN" dirty="0" smtClean="0"/>
              <a:t>Code Map</a:t>
            </a:r>
            <a:r>
              <a:rPr lang="ja-JP" altLang="en-US" dirty="0" smtClean="0"/>
              <a:t>を求める</a:t>
            </a:r>
            <a:r>
              <a:rPr lang="ja-JP" altLang="en-US" dirty="0" smtClean="0"/>
              <a:t>。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39" t="33865" r="15109" b="642"/>
          <a:stretch/>
        </p:blipFill>
        <p:spPr>
          <a:xfrm>
            <a:off x="4458031" y="472702"/>
            <a:ext cx="3999838" cy="202460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6776336" y="2343276"/>
            <a:ext cx="960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 smtClean="0"/>
              <a:t>カメラ</a:t>
            </a:r>
            <a:r>
              <a:rPr lang="en-US" altLang="zh-CN" sz="1100" dirty="0" smtClean="0"/>
              <a:t>1</a:t>
            </a:r>
            <a:endParaRPr kumimoji="1" lang="ja-JP" altLang="en-US" sz="11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976079" y="2081666"/>
            <a:ext cx="960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 smtClean="0"/>
              <a:t>カメラ</a:t>
            </a:r>
            <a:r>
              <a:rPr lang="en-US" altLang="ja-JP" sz="1100" dirty="0" smtClean="0"/>
              <a:t>N</a:t>
            </a:r>
            <a:endParaRPr kumimoji="1" lang="ja-JP" altLang="en-US" sz="1100" dirty="0"/>
          </a:p>
        </p:txBody>
      </p:sp>
      <p:cxnSp>
        <p:nvCxnSpPr>
          <p:cNvPr id="9" name="直線コネクタ 8"/>
          <p:cNvCxnSpPr/>
          <p:nvPr/>
        </p:nvCxnSpPr>
        <p:spPr>
          <a:xfrm flipH="1" flipV="1">
            <a:off x="6718855" y="1252497"/>
            <a:ext cx="250563" cy="38853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6591918" y="990887"/>
            <a:ext cx="10536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 smtClean="0">
                <a:solidFill>
                  <a:srgbClr val="FF0000"/>
                </a:solidFill>
              </a:rPr>
              <a:t>３</a:t>
            </a:r>
            <a:r>
              <a:rPr kumimoji="1" lang="en-US" altLang="ja-JP" sz="1100" dirty="0" smtClean="0">
                <a:solidFill>
                  <a:srgbClr val="FF0000"/>
                </a:solidFill>
              </a:rPr>
              <a:t>D</a:t>
            </a:r>
            <a:r>
              <a:rPr lang="ja-JP" altLang="en-US" sz="1100" dirty="0">
                <a:solidFill>
                  <a:srgbClr val="FF0000"/>
                </a:solidFill>
              </a:rPr>
              <a:t>点</a:t>
            </a:r>
            <a:endParaRPr kumimoji="1" lang="ja-JP" altLang="en-US" sz="1100" dirty="0">
              <a:solidFill>
                <a:srgbClr val="FF0000"/>
              </a:solidFill>
            </a:endParaRPr>
          </a:p>
        </p:txBody>
      </p:sp>
      <p:cxnSp>
        <p:nvCxnSpPr>
          <p:cNvPr id="12" name="直線矢印コネクタ 11"/>
          <p:cNvCxnSpPr/>
          <p:nvPr/>
        </p:nvCxnSpPr>
        <p:spPr>
          <a:xfrm flipH="1">
            <a:off x="5456563" y="1252497"/>
            <a:ext cx="1262292" cy="2919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5656152" y="1185154"/>
            <a:ext cx="6092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 smtClean="0"/>
              <a:t>再投影</a:t>
            </a:r>
            <a:endParaRPr kumimoji="1" lang="ja-JP" altLang="en-US" sz="1100" dirty="0"/>
          </a:p>
        </p:txBody>
      </p:sp>
      <p:sp>
        <p:nvSpPr>
          <p:cNvPr id="15" name="楕円 14"/>
          <p:cNvSpPr/>
          <p:nvPr/>
        </p:nvSpPr>
        <p:spPr>
          <a:xfrm>
            <a:off x="5348087" y="1544491"/>
            <a:ext cx="46105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/>
          <p:cNvSpPr/>
          <p:nvPr/>
        </p:nvSpPr>
        <p:spPr>
          <a:xfrm>
            <a:off x="5400595" y="1520159"/>
            <a:ext cx="46105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/>
          <p:cNvSpPr/>
          <p:nvPr/>
        </p:nvSpPr>
        <p:spPr>
          <a:xfrm>
            <a:off x="5414683" y="1611087"/>
            <a:ext cx="46105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/>
          <p:cNvSpPr/>
          <p:nvPr/>
        </p:nvSpPr>
        <p:spPr>
          <a:xfrm>
            <a:off x="5305827" y="1678963"/>
            <a:ext cx="46105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/>
          <p:cNvSpPr/>
          <p:nvPr/>
        </p:nvSpPr>
        <p:spPr>
          <a:xfrm>
            <a:off x="6968131" y="1696891"/>
            <a:ext cx="46105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/>
          <p:cNvSpPr/>
          <p:nvPr/>
        </p:nvSpPr>
        <p:spPr>
          <a:xfrm>
            <a:off x="7020639" y="1672559"/>
            <a:ext cx="46105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/>
          <p:cNvSpPr/>
          <p:nvPr/>
        </p:nvSpPr>
        <p:spPr>
          <a:xfrm>
            <a:off x="7034727" y="1763487"/>
            <a:ext cx="46105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/>
          <p:cNvSpPr/>
          <p:nvPr/>
        </p:nvSpPr>
        <p:spPr>
          <a:xfrm>
            <a:off x="6925871" y="1831363"/>
            <a:ext cx="46105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750235" y="1688878"/>
            <a:ext cx="704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dirty="0">
                <a:solidFill>
                  <a:schemeClr val="accent5"/>
                </a:solidFill>
              </a:rPr>
              <a:t>特徴点</a:t>
            </a:r>
            <a:endParaRPr kumimoji="1" lang="ja-JP" altLang="en-US" sz="1100" dirty="0">
              <a:solidFill>
                <a:schemeClr val="accent5"/>
              </a:solidFill>
            </a:endParaRPr>
          </a:p>
        </p:txBody>
      </p:sp>
      <p:cxnSp>
        <p:nvCxnSpPr>
          <p:cNvPr id="25" name="直線コネクタ 24"/>
          <p:cNvCxnSpPr>
            <a:stCxn id="17" idx="6"/>
          </p:cNvCxnSpPr>
          <p:nvPr/>
        </p:nvCxnSpPr>
        <p:spPr>
          <a:xfrm>
            <a:off x="5460788" y="1633947"/>
            <a:ext cx="453462" cy="12954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>
            <a:endCxn id="22" idx="5"/>
          </p:cNvCxnSpPr>
          <p:nvPr/>
        </p:nvCxnSpPr>
        <p:spPr>
          <a:xfrm>
            <a:off x="6193331" y="1793176"/>
            <a:ext cx="771893" cy="7721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43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20732</TotalTime>
  <Words>427</Words>
  <Application>Microsoft Office PowerPoint</Application>
  <PresentationFormat>画面に合わせる (4:3)</PresentationFormat>
  <Paragraphs>168</Paragraphs>
  <Slides>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等线</vt:lpstr>
      <vt:lpstr>游ゴシック</vt:lpstr>
      <vt:lpstr>游ゴシック Light</vt:lpstr>
      <vt:lpstr>Arial</vt:lpstr>
      <vt:lpstr>Calibri</vt:lpstr>
      <vt:lpstr>Calibri Light</vt:lpstr>
      <vt:lpstr>Office テーマ</vt:lpstr>
      <vt:lpstr>ステレオカメラ・照明・時間を活用した 高精度・高ロバストな部品計測に関する研究</vt:lpstr>
      <vt:lpstr>あらまし</vt:lpstr>
      <vt:lpstr>前回の実験</vt:lpstr>
      <vt:lpstr>実験時間比較</vt:lpstr>
      <vt:lpstr>デコード</vt:lpstr>
      <vt:lpstr>デコード</vt:lpstr>
      <vt:lpstr>カメラ視点を減らす</vt:lpstr>
      <vt:lpstr>今後の課題</vt:lpstr>
    </vt:vector>
  </TitlesOfParts>
  <Company>東京工業大学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lchunyu</dc:creator>
  <cp:lastModifiedBy>lchunyu</cp:lastModifiedBy>
  <cp:revision>461</cp:revision>
  <cp:lastPrinted>2017-03-06T11:28:39Z</cp:lastPrinted>
  <dcterms:created xsi:type="dcterms:W3CDTF">2016-11-09T04:14:56Z</dcterms:created>
  <dcterms:modified xsi:type="dcterms:W3CDTF">2017-05-08T01:37:12Z</dcterms:modified>
</cp:coreProperties>
</file>