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56" r:id="rId2"/>
    <p:sldId id="294" r:id="rId3"/>
    <p:sldId id="316" r:id="rId4"/>
    <p:sldId id="319" r:id="rId5"/>
    <p:sldId id="318" r:id="rId6"/>
    <p:sldId id="315" r:id="rId7"/>
    <p:sldId id="321" r:id="rId8"/>
    <p:sldId id="320" r:id="rId9"/>
    <p:sldId id="323" r:id="rId10"/>
    <p:sldId id="322" r:id="rId11"/>
    <p:sldId id="324" r:id="rId12"/>
  </p:sldIdLst>
  <p:sldSz cx="9144000" cy="6858000" type="screen4x3"/>
  <p:notesSz cx="9926638" cy="6797675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6DD3B383-B6F3-4877-8004-3340591F10CA}">
          <p14:sldIdLst>
            <p14:sldId id="256"/>
            <p14:sldId id="294"/>
            <p14:sldId id="316"/>
            <p14:sldId id="319"/>
            <p14:sldId id="318"/>
            <p14:sldId id="315"/>
            <p14:sldId id="321"/>
            <p14:sldId id="320"/>
            <p14:sldId id="323"/>
            <p14:sldId id="322"/>
            <p14:sldId id="32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4" autoAdjust="0"/>
    <p:restoredTop sz="90010" autoAdjust="0"/>
  </p:normalViewPr>
  <p:slideViewPr>
    <p:cSldViewPr snapToGrid="0">
      <p:cViewPr varScale="1">
        <p:scale>
          <a:sx n="67" d="100"/>
          <a:sy n="67" d="100"/>
        </p:scale>
        <p:origin x="1374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259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36" tIns="45718" rIns="91436" bIns="45718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622800" y="1"/>
            <a:ext cx="4301543" cy="341064"/>
          </a:xfrm>
          <a:prstGeom prst="rect">
            <a:avLst/>
          </a:prstGeom>
        </p:spPr>
        <p:txBody>
          <a:bodyPr vert="horz" lIns="91436" tIns="45718" rIns="91436" bIns="45718" rtlCol="0"/>
          <a:lstStyle>
            <a:lvl1pPr algn="r">
              <a:defRPr sz="1200"/>
            </a:lvl1pPr>
          </a:lstStyle>
          <a:p>
            <a:fld id="{A7047017-3F4D-4800-9B33-5B2A9DB7873C}" type="datetimeFigureOut">
              <a:rPr kumimoji="1" lang="ja-JP" altLang="en-US" smtClean="0"/>
              <a:t>2017/3/16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6456614"/>
            <a:ext cx="4301543" cy="341063"/>
          </a:xfrm>
          <a:prstGeom prst="rect">
            <a:avLst/>
          </a:prstGeom>
        </p:spPr>
        <p:txBody>
          <a:bodyPr vert="horz" lIns="91436" tIns="45718" rIns="91436" bIns="45718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5622800" y="6456614"/>
            <a:ext cx="4301543" cy="341063"/>
          </a:xfrm>
          <a:prstGeom prst="rect">
            <a:avLst/>
          </a:prstGeom>
        </p:spPr>
        <p:txBody>
          <a:bodyPr vert="horz" lIns="91436" tIns="45718" rIns="91436" bIns="45718" rtlCol="0" anchor="b"/>
          <a:lstStyle>
            <a:lvl1pPr algn="r">
              <a:defRPr sz="1200"/>
            </a:lvl1pPr>
          </a:lstStyle>
          <a:p>
            <a:fld id="{F6CEBBC0-0D16-4C51-A178-F7B061223F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4219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36" tIns="45718" rIns="91436" bIns="45718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622800" y="1"/>
            <a:ext cx="4301543" cy="341064"/>
          </a:xfrm>
          <a:prstGeom prst="rect">
            <a:avLst/>
          </a:prstGeom>
        </p:spPr>
        <p:txBody>
          <a:bodyPr vert="horz" lIns="91436" tIns="45718" rIns="91436" bIns="45718" rtlCol="0"/>
          <a:lstStyle>
            <a:lvl1pPr algn="r">
              <a:defRPr sz="1200"/>
            </a:lvl1pPr>
          </a:lstStyle>
          <a:p>
            <a:fld id="{4EE61553-47AE-49F4-A30A-FEA3F4C5BB3B}" type="datetimeFigureOut">
              <a:rPr kumimoji="1" lang="ja-JP" altLang="en-US" smtClean="0"/>
              <a:t>2017/3/16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433763" y="849313"/>
            <a:ext cx="3059112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6" tIns="45718" rIns="91436" bIns="45718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92664" y="3271383"/>
            <a:ext cx="7941310" cy="2676585"/>
          </a:xfrm>
          <a:prstGeom prst="rect">
            <a:avLst/>
          </a:prstGeom>
        </p:spPr>
        <p:txBody>
          <a:bodyPr vert="horz" lIns="91436" tIns="45718" rIns="91436" bIns="45718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6456614"/>
            <a:ext cx="4301543" cy="341063"/>
          </a:xfrm>
          <a:prstGeom prst="rect">
            <a:avLst/>
          </a:prstGeom>
        </p:spPr>
        <p:txBody>
          <a:bodyPr vert="horz" lIns="91436" tIns="45718" rIns="91436" bIns="45718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622800" y="6456614"/>
            <a:ext cx="4301543" cy="341063"/>
          </a:xfrm>
          <a:prstGeom prst="rect">
            <a:avLst/>
          </a:prstGeom>
        </p:spPr>
        <p:txBody>
          <a:bodyPr vert="horz" lIns="91436" tIns="45718" rIns="91436" bIns="45718" rtlCol="0" anchor="b"/>
          <a:lstStyle>
            <a:lvl1pPr algn="r">
              <a:defRPr sz="1200"/>
            </a:lvl1pPr>
          </a:lstStyle>
          <a:p>
            <a:fld id="{01BD5F71-B6FF-4752-A481-C3A1CF4156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5982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BD5F71-B6FF-4752-A481-C3A1CF415685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758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BD5F71-B6FF-4752-A481-C3A1CF415685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8199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smtClean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4C931-648D-4F19-A7E9-4215BE8EB453}" type="datetime1">
              <a:rPr kumimoji="1" lang="ja-JP" altLang="en-US" smtClean="0"/>
              <a:t>2017/3/16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7337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AF857-1170-4F41-B12E-ABF113777648}" type="datetime1">
              <a:rPr kumimoji="1" lang="ja-JP" altLang="en-US" smtClean="0"/>
              <a:t>2017/3/16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4475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44318-77C3-4220-BCFC-4622BF0AADB9}" type="datetime1">
              <a:rPr kumimoji="1" lang="ja-JP" altLang="en-US" smtClean="0"/>
              <a:t>2017/3/16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6616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11334-7932-403E-9818-0031037B27BC}" type="datetime1">
              <a:rPr kumimoji="1" lang="ja-JP" altLang="en-US" smtClean="0"/>
              <a:t>2017/3/16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1420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46AA7-D6AC-483B-B59F-B92B33580718}" type="datetime1">
              <a:rPr kumimoji="1" lang="ja-JP" altLang="en-US" smtClean="0"/>
              <a:t>2017/3/16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7693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2AB63-8332-4105-A8E8-92D9FFE45080}" type="datetime1">
              <a:rPr kumimoji="1" lang="ja-JP" altLang="en-US" smtClean="0"/>
              <a:t>2017/3/16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8652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7F610-1513-4196-8905-051CB72780E2}" type="datetime1">
              <a:rPr kumimoji="1" lang="ja-JP" altLang="en-US" smtClean="0"/>
              <a:t>2017/3/16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6862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99A3-628B-475C-AC88-0DCEBFCBE43E}" type="datetime1">
              <a:rPr kumimoji="1" lang="ja-JP" altLang="en-US" smtClean="0"/>
              <a:t>2017/3/16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5032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 smtClean="0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E26B5-C4B8-4F0A-BA8D-9718B829FC64}" type="datetime1">
              <a:rPr kumimoji="1" lang="ja-JP" altLang="en-US" smtClean="0"/>
              <a:t>2017/3/16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9270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96EC0-4E43-4FF5-933C-8728087BB85F}" type="datetime1">
              <a:rPr kumimoji="1" lang="ja-JP" altLang="en-US" smtClean="0"/>
              <a:t>2017/3/16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7350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8B55-76C5-4689-9D3B-072D0666FEF8}" type="datetime1">
              <a:rPr kumimoji="1" lang="ja-JP" altLang="en-US" smtClean="0"/>
              <a:t>2017/3/16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3929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474DA-14F1-4050-95A4-F0689030D4A9}" type="datetime1">
              <a:rPr kumimoji="1" lang="ja-JP" altLang="en-US" smtClean="0"/>
              <a:t>2017/3/16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788E4-6569-4D19-9234-A7EC7D743A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6415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jpeg"/><Relationship Id="rId7" Type="http://schemas.openxmlformats.org/officeDocument/2006/relationships/image" Target="../media/image15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Relationship Id="rId9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1620837"/>
          </a:xfrm>
        </p:spPr>
        <p:txBody>
          <a:bodyPr>
            <a:normAutofit/>
          </a:bodyPr>
          <a:lstStyle/>
          <a:p>
            <a:r>
              <a:rPr lang="ja-JP" altLang="en-US" sz="2800" dirty="0"/>
              <a:t>ステレオカメラ・照明・時間を活用した</a:t>
            </a:r>
            <a:br>
              <a:rPr lang="ja-JP" altLang="en-US" sz="2800" dirty="0"/>
            </a:br>
            <a:r>
              <a:rPr lang="ja-JP" altLang="en-US" sz="2800" dirty="0"/>
              <a:t>高精度・高ロバストな部品計測に関する研究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143000" y="4061861"/>
            <a:ext cx="6858000" cy="2562727"/>
          </a:xfrm>
        </p:spPr>
        <p:txBody>
          <a:bodyPr/>
          <a:lstStyle/>
          <a:p>
            <a:r>
              <a:rPr kumimoji="1" lang="ja-JP" altLang="en-US" dirty="0" smtClean="0"/>
              <a:t>奥富研究室</a:t>
            </a:r>
            <a:endParaRPr kumimoji="1" lang="en-US" altLang="ja-JP" dirty="0" smtClean="0"/>
          </a:p>
          <a:p>
            <a:r>
              <a:rPr lang="ja-JP" altLang="en-US" dirty="0" smtClean="0"/>
              <a:t>李淳雨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1568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あらまし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ja-JP" altLang="en-US" sz="2000" dirty="0"/>
              <a:t>前回の</a:t>
            </a:r>
            <a:r>
              <a:rPr lang="ja-JP" altLang="en-US" sz="2000" dirty="0" smtClean="0"/>
              <a:t>実験</a:t>
            </a:r>
            <a:endParaRPr lang="en-US" altLang="ja-JP" sz="2000" dirty="0" smtClean="0"/>
          </a:p>
          <a:p>
            <a:pPr>
              <a:lnSpc>
                <a:spcPct val="100000"/>
              </a:lnSpc>
            </a:pPr>
            <a:r>
              <a:rPr lang="ja-JP" altLang="en-US" sz="2000" dirty="0"/>
              <a:t>提案</a:t>
            </a:r>
            <a:r>
              <a:rPr lang="ja-JP" altLang="en-US" sz="2000" dirty="0" smtClean="0"/>
              <a:t>手法</a:t>
            </a:r>
            <a:endParaRPr lang="en-US" altLang="ja-JP" sz="2000" dirty="0" smtClean="0"/>
          </a:p>
          <a:p>
            <a:pPr lvl="1">
              <a:lnSpc>
                <a:spcPct val="100000"/>
              </a:lnSpc>
            </a:pPr>
            <a:r>
              <a:rPr lang="ja-JP" altLang="en-US" sz="2000" dirty="0"/>
              <a:t>キャプチャ</a:t>
            </a:r>
            <a:endParaRPr lang="en-US" altLang="ja-JP" sz="2000" dirty="0" smtClean="0"/>
          </a:p>
          <a:p>
            <a:pPr lvl="1">
              <a:lnSpc>
                <a:spcPct val="100000"/>
              </a:lnSpc>
            </a:pPr>
            <a:r>
              <a:rPr lang="ja-JP" altLang="en-US" sz="2000" dirty="0"/>
              <a:t>対応の</a:t>
            </a:r>
            <a:r>
              <a:rPr lang="ja-JP" altLang="en-US" sz="2000" dirty="0" smtClean="0"/>
              <a:t>生成</a:t>
            </a:r>
            <a:endParaRPr lang="en-US" altLang="zh-CN" sz="2000" dirty="0" smtClean="0"/>
          </a:p>
          <a:p>
            <a:pPr>
              <a:lnSpc>
                <a:spcPct val="100000"/>
              </a:lnSpc>
            </a:pPr>
            <a:r>
              <a:rPr lang="ja-JP" altLang="en-US" sz="2000" dirty="0" smtClean="0"/>
              <a:t>実験</a:t>
            </a:r>
            <a:endParaRPr lang="en-US" altLang="ja-JP" sz="2000" dirty="0" smtClean="0"/>
          </a:p>
          <a:p>
            <a:pPr lvl="1">
              <a:lnSpc>
                <a:spcPct val="100000"/>
              </a:lnSpc>
            </a:pPr>
            <a:r>
              <a:rPr lang="ja-JP" altLang="en-US" sz="2000" dirty="0"/>
              <a:t>撮影された画像の例</a:t>
            </a:r>
          </a:p>
          <a:p>
            <a:pPr lvl="1">
              <a:lnSpc>
                <a:spcPct val="100000"/>
              </a:lnSpc>
            </a:pPr>
            <a:r>
              <a:rPr lang="ja-JP" altLang="en-US" sz="2000" dirty="0"/>
              <a:t>結果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1321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前回の実験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3</a:t>
            </a:fld>
            <a:endParaRPr kumimoji="1" lang="ja-JP" altLang="en-US"/>
          </a:p>
        </p:txBody>
      </p:sp>
      <p:cxnSp>
        <p:nvCxnSpPr>
          <p:cNvPr id="8" name="直線コネクタ 7"/>
          <p:cNvCxnSpPr/>
          <p:nvPr/>
        </p:nvCxnSpPr>
        <p:spPr>
          <a:xfrm>
            <a:off x="1503884" y="2559624"/>
            <a:ext cx="0" cy="4184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楕円 9"/>
          <p:cNvSpPr/>
          <p:nvPr/>
        </p:nvSpPr>
        <p:spPr>
          <a:xfrm>
            <a:off x="3275204" y="2171820"/>
            <a:ext cx="1247614" cy="7516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Object</a:t>
            </a:r>
            <a:endParaRPr kumimoji="1" lang="ja-JP" altLang="en-US" dirty="0"/>
          </a:p>
        </p:txBody>
      </p:sp>
      <p:cxnSp>
        <p:nvCxnSpPr>
          <p:cNvPr id="11" name="直線コネクタ 10"/>
          <p:cNvCxnSpPr/>
          <p:nvPr/>
        </p:nvCxnSpPr>
        <p:spPr>
          <a:xfrm>
            <a:off x="1509051" y="2559624"/>
            <a:ext cx="545022" cy="1859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/>
          <p:cNvCxnSpPr/>
          <p:nvPr/>
        </p:nvCxnSpPr>
        <p:spPr>
          <a:xfrm>
            <a:off x="2054073" y="2745603"/>
            <a:ext cx="0" cy="4881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/>
          <p:cNvCxnSpPr/>
          <p:nvPr/>
        </p:nvCxnSpPr>
        <p:spPr>
          <a:xfrm flipH="1">
            <a:off x="2748911" y="3159727"/>
            <a:ext cx="200834" cy="8671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/>
          <p:cNvCxnSpPr/>
          <p:nvPr/>
        </p:nvCxnSpPr>
        <p:spPr>
          <a:xfrm flipH="1">
            <a:off x="2958784" y="3159956"/>
            <a:ext cx="1" cy="44404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/>
          <p:cNvCxnSpPr/>
          <p:nvPr/>
        </p:nvCxnSpPr>
        <p:spPr>
          <a:xfrm>
            <a:off x="6434928" y="2559624"/>
            <a:ext cx="0" cy="4881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/>
          <p:cNvCxnSpPr/>
          <p:nvPr/>
        </p:nvCxnSpPr>
        <p:spPr>
          <a:xfrm>
            <a:off x="1503884" y="2978078"/>
            <a:ext cx="550189" cy="25572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/>
          <p:cNvCxnSpPr/>
          <p:nvPr/>
        </p:nvCxnSpPr>
        <p:spPr>
          <a:xfrm flipH="1">
            <a:off x="1069930" y="2559624"/>
            <a:ext cx="433954" cy="78266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/>
          <p:nvPr/>
        </p:nvCxnSpPr>
        <p:spPr>
          <a:xfrm flipH="1">
            <a:off x="1069930" y="2959997"/>
            <a:ext cx="433954" cy="3822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/>
          <p:cNvCxnSpPr/>
          <p:nvPr/>
        </p:nvCxnSpPr>
        <p:spPr>
          <a:xfrm flipH="1">
            <a:off x="1069929" y="3233800"/>
            <a:ext cx="972522" cy="1084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/>
          <p:cNvCxnSpPr/>
          <p:nvPr/>
        </p:nvCxnSpPr>
        <p:spPr>
          <a:xfrm flipH="1">
            <a:off x="1064764" y="2761102"/>
            <a:ext cx="984142" cy="5811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/>
          <p:cNvCxnSpPr/>
          <p:nvPr/>
        </p:nvCxnSpPr>
        <p:spPr>
          <a:xfrm>
            <a:off x="2958784" y="3619188"/>
            <a:ext cx="581187" cy="1213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/>
          <p:cNvCxnSpPr/>
          <p:nvPr/>
        </p:nvCxnSpPr>
        <p:spPr>
          <a:xfrm>
            <a:off x="2949744" y="3159955"/>
            <a:ext cx="581186" cy="76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/>
          <p:cNvCxnSpPr/>
          <p:nvPr/>
        </p:nvCxnSpPr>
        <p:spPr>
          <a:xfrm>
            <a:off x="3539971" y="3227760"/>
            <a:ext cx="0" cy="5127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/>
          <p:cNvCxnSpPr/>
          <p:nvPr/>
        </p:nvCxnSpPr>
        <p:spPr>
          <a:xfrm flipH="1">
            <a:off x="5214436" y="3227760"/>
            <a:ext cx="16790" cy="4526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/>
          <p:cNvCxnSpPr/>
          <p:nvPr/>
        </p:nvCxnSpPr>
        <p:spPr>
          <a:xfrm flipV="1">
            <a:off x="4631955" y="3680440"/>
            <a:ext cx="582480" cy="897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/>
          <p:cNvCxnSpPr/>
          <p:nvPr/>
        </p:nvCxnSpPr>
        <p:spPr>
          <a:xfrm flipV="1">
            <a:off x="4631955" y="3227760"/>
            <a:ext cx="582480" cy="381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/>
          <p:cNvCxnSpPr/>
          <p:nvPr/>
        </p:nvCxnSpPr>
        <p:spPr>
          <a:xfrm>
            <a:off x="4640997" y="3265860"/>
            <a:ext cx="0" cy="5127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/>
          <p:cNvCxnSpPr/>
          <p:nvPr/>
        </p:nvCxnSpPr>
        <p:spPr>
          <a:xfrm flipH="1">
            <a:off x="2744391" y="3236155"/>
            <a:ext cx="804622" cy="7755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/>
          <p:cNvCxnSpPr/>
          <p:nvPr/>
        </p:nvCxnSpPr>
        <p:spPr>
          <a:xfrm flipH="1">
            <a:off x="2751174" y="3619188"/>
            <a:ext cx="205024" cy="39252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/>
          <p:cNvCxnSpPr/>
          <p:nvPr/>
        </p:nvCxnSpPr>
        <p:spPr>
          <a:xfrm flipH="1">
            <a:off x="2739869" y="3740497"/>
            <a:ext cx="806558" cy="2712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コネクタ 58"/>
          <p:cNvCxnSpPr/>
          <p:nvPr/>
        </p:nvCxnSpPr>
        <p:spPr>
          <a:xfrm>
            <a:off x="5213791" y="3657745"/>
            <a:ext cx="240220" cy="3558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コネクタ 59"/>
          <p:cNvCxnSpPr/>
          <p:nvPr/>
        </p:nvCxnSpPr>
        <p:spPr>
          <a:xfrm>
            <a:off x="4627435" y="3260903"/>
            <a:ext cx="831096" cy="7526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/>
          <p:cNvCxnSpPr/>
          <p:nvPr/>
        </p:nvCxnSpPr>
        <p:spPr>
          <a:xfrm>
            <a:off x="5214436" y="3227760"/>
            <a:ext cx="253137" cy="785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/>
          <p:cNvCxnSpPr/>
          <p:nvPr/>
        </p:nvCxnSpPr>
        <p:spPr>
          <a:xfrm>
            <a:off x="4640998" y="3768491"/>
            <a:ext cx="813013" cy="24506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/>
          <p:cNvCxnSpPr/>
          <p:nvPr/>
        </p:nvCxnSpPr>
        <p:spPr>
          <a:xfrm flipH="1">
            <a:off x="6920541" y="2498276"/>
            <a:ext cx="12916" cy="3713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コネクタ 83"/>
          <p:cNvCxnSpPr/>
          <p:nvPr/>
        </p:nvCxnSpPr>
        <p:spPr>
          <a:xfrm flipV="1">
            <a:off x="6417162" y="2869590"/>
            <a:ext cx="503379" cy="15821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コネクタ 84"/>
          <p:cNvCxnSpPr/>
          <p:nvPr/>
        </p:nvCxnSpPr>
        <p:spPr>
          <a:xfrm flipV="1">
            <a:off x="6411676" y="2498276"/>
            <a:ext cx="521781" cy="803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/>
          <p:cNvCxnSpPr/>
          <p:nvPr/>
        </p:nvCxnSpPr>
        <p:spPr>
          <a:xfrm>
            <a:off x="6436533" y="3033318"/>
            <a:ext cx="969620" cy="2547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コネクタ 88"/>
          <p:cNvCxnSpPr/>
          <p:nvPr/>
        </p:nvCxnSpPr>
        <p:spPr>
          <a:xfrm>
            <a:off x="6429760" y="2559624"/>
            <a:ext cx="974129" cy="7284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コネクタ 89"/>
          <p:cNvCxnSpPr/>
          <p:nvPr/>
        </p:nvCxnSpPr>
        <p:spPr>
          <a:xfrm>
            <a:off x="6920541" y="2494153"/>
            <a:ext cx="490121" cy="7938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/>
          <p:cNvCxnSpPr/>
          <p:nvPr/>
        </p:nvCxnSpPr>
        <p:spPr>
          <a:xfrm>
            <a:off x="6926999" y="2858446"/>
            <a:ext cx="476890" cy="4024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円弧 121"/>
          <p:cNvSpPr/>
          <p:nvPr/>
        </p:nvSpPr>
        <p:spPr>
          <a:xfrm rot="1557112" flipV="1">
            <a:off x="1353307" y="3242639"/>
            <a:ext cx="1295078" cy="731748"/>
          </a:xfrm>
          <a:prstGeom prst="arc">
            <a:avLst>
              <a:gd name="adj1" fmla="val 11046157"/>
              <a:gd name="adj2" fmla="val 21239721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3" name="円弧 122"/>
          <p:cNvSpPr/>
          <p:nvPr/>
        </p:nvSpPr>
        <p:spPr>
          <a:xfrm rot="21318549" flipV="1">
            <a:off x="3336876" y="3525151"/>
            <a:ext cx="1295078" cy="731748"/>
          </a:xfrm>
          <a:prstGeom prst="arc">
            <a:avLst>
              <a:gd name="adj1" fmla="val 11046157"/>
              <a:gd name="adj2" fmla="val 21239721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4" name="円弧 123"/>
          <p:cNvSpPr/>
          <p:nvPr/>
        </p:nvSpPr>
        <p:spPr>
          <a:xfrm rot="19832871" flipV="1">
            <a:off x="5441088" y="3016712"/>
            <a:ext cx="1295078" cy="731748"/>
          </a:xfrm>
          <a:prstGeom prst="arc">
            <a:avLst>
              <a:gd name="adj1" fmla="val 11046157"/>
              <a:gd name="adj2" fmla="val 21239721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8" name="フローチャート: 手作業 127"/>
          <p:cNvSpPr/>
          <p:nvPr/>
        </p:nvSpPr>
        <p:spPr>
          <a:xfrm>
            <a:off x="3315906" y="4825358"/>
            <a:ext cx="1429076" cy="604433"/>
          </a:xfrm>
          <a:prstGeom prst="flowChartManualOpera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 smtClean="0">
                <a:solidFill>
                  <a:sysClr val="windowText" lastClr="000000"/>
                </a:solidFill>
              </a:rPr>
              <a:t>Projector</a:t>
            </a:r>
            <a:endParaRPr kumimoji="1" lang="ja-JP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129" name="フローチャート: 手作業 128"/>
          <p:cNvSpPr/>
          <p:nvPr/>
        </p:nvSpPr>
        <p:spPr>
          <a:xfrm>
            <a:off x="3309124" y="5180637"/>
            <a:ext cx="1435858" cy="404244"/>
          </a:xfrm>
          <a:prstGeom prst="flowChartManualOpera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1" name="直線コネクタ 130"/>
          <p:cNvCxnSpPr/>
          <p:nvPr/>
        </p:nvCxnSpPr>
        <p:spPr>
          <a:xfrm>
            <a:off x="3315906" y="4825358"/>
            <a:ext cx="0" cy="35479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コネクタ 131"/>
          <p:cNvCxnSpPr/>
          <p:nvPr/>
        </p:nvCxnSpPr>
        <p:spPr>
          <a:xfrm>
            <a:off x="4746590" y="4825358"/>
            <a:ext cx="0" cy="35479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コネクタ 132"/>
          <p:cNvCxnSpPr/>
          <p:nvPr/>
        </p:nvCxnSpPr>
        <p:spPr>
          <a:xfrm>
            <a:off x="4460180" y="5429791"/>
            <a:ext cx="0" cy="1550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線コネクタ 134"/>
          <p:cNvCxnSpPr/>
          <p:nvPr/>
        </p:nvCxnSpPr>
        <p:spPr>
          <a:xfrm>
            <a:off x="3603363" y="5429791"/>
            <a:ext cx="0" cy="1550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kumimoji="1" lang="ja-JP" altLang="en-US" sz="1800" dirty="0" smtClean="0"/>
              <a:t>ひとつのカメラを</a:t>
            </a:r>
            <a:r>
              <a:rPr lang="ja-JP" altLang="en-US" sz="1800" dirty="0"/>
              <a:t>使い，オブジェクト</a:t>
            </a:r>
            <a:r>
              <a:rPr kumimoji="1" lang="ja-JP" altLang="en-US" sz="1800" dirty="0" smtClean="0"/>
              <a:t>を巡って撮影する。</a:t>
            </a:r>
            <a:endParaRPr kumimoji="1" lang="en-US" altLang="ja-JP" sz="1800" dirty="0" smtClean="0"/>
          </a:p>
        </p:txBody>
      </p:sp>
    </p:spTree>
    <p:extLst>
      <p:ext uri="{BB962C8B-B14F-4D97-AF65-F5344CB8AC3E}">
        <p14:creationId xmlns:p14="http://schemas.microsoft.com/office/powerpoint/2010/main" val="2362096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前回の実験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6" name="正方形/長方形 6"/>
          <p:cNvSpPr/>
          <p:nvPr/>
        </p:nvSpPr>
        <p:spPr>
          <a:xfrm>
            <a:off x="486711" y="2617414"/>
            <a:ext cx="1188720" cy="51435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Patterns  </a:t>
            </a:r>
            <a:r>
              <a:rPr lang="en-US" altLang="zh-CN" dirty="0"/>
              <a:t>e</a:t>
            </a:r>
            <a:r>
              <a:rPr lang="en-US" altLang="zh-CN" dirty="0" smtClean="0"/>
              <a:t>ncoding</a:t>
            </a:r>
          </a:p>
        </p:txBody>
      </p:sp>
      <p:sp>
        <p:nvSpPr>
          <p:cNvPr id="7" name="正方形/長方形 7"/>
          <p:cNvSpPr/>
          <p:nvPr/>
        </p:nvSpPr>
        <p:spPr>
          <a:xfrm>
            <a:off x="450039" y="3992083"/>
            <a:ext cx="1262065" cy="51435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Acquisition</a:t>
            </a:r>
            <a:endParaRPr lang="en-US" altLang="zh-CN" dirty="0" smtClean="0"/>
          </a:p>
        </p:txBody>
      </p:sp>
      <p:cxnSp>
        <p:nvCxnSpPr>
          <p:cNvPr id="9" name="直線矢印コネクタ 10"/>
          <p:cNvCxnSpPr>
            <a:stCxn id="6" idx="2"/>
            <a:endCxn id="7" idx="0"/>
          </p:cNvCxnSpPr>
          <p:nvPr/>
        </p:nvCxnSpPr>
        <p:spPr>
          <a:xfrm>
            <a:off x="1081071" y="3131764"/>
            <a:ext cx="1" cy="8603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11"/>
          <p:cNvCxnSpPr/>
          <p:nvPr/>
        </p:nvCxnSpPr>
        <p:spPr>
          <a:xfrm>
            <a:off x="2699367" y="3423299"/>
            <a:ext cx="504613" cy="31565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5"/>
          <p:cNvSpPr/>
          <p:nvPr/>
        </p:nvSpPr>
        <p:spPr>
          <a:xfrm>
            <a:off x="277921" y="3551085"/>
            <a:ext cx="76855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100" dirty="0" smtClean="0"/>
              <a:t>Gray code</a:t>
            </a:r>
            <a:endParaRPr lang="ja-JP" altLang="en-US" sz="1100" dirty="0"/>
          </a:p>
        </p:txBody>
      </p:sp>
      <p:sp>
        <p:nvSpPr>
          <p:cNvPr id="13" name="正方形/長方形 16"/>
          <p:cNvSpPr/>
          <p:nvPr/>
        </p:nvSpPr>
        <p:spPr>
          <a:xfrm>
            <a:off x="1985952" y="5111206"/>
            <a:ext cx="75611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100" dirty="0" smtClean="0"/>
              <a:t>Images of object</a:t>
            </a:r>
            <a:endParaRPr lang="ja-JP" altLang="en-US" sz="1100" dirty="0"/>
          </a:p>
        </p:txBody>
      </p:sp>
      <p:sp>
        <p:nvSpPr>
          <p:cNvPr id="14" name="平行四辺形 18"/>
          <p:cNvSpPr/>
          <p:nvPr/>
        </p:nvSpPr>
        <p:spPr>
          <a:xfrm>
            <a:off x="7735093" y="3975631"/>
            <a:ext cx="1018854" cy="514350"/>
          </a:xfrm>
          <a:prstGeom prst="parallelogram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Point cloud</a:t>
            </a:r>
            <a:endParaRPr kumimoji="1" lang="ja-JP" altLang="en-US" dirty="0"/>
          </a:p>
        </p:txBody>
      </p:sp>
      <p:pic>
        <p:nvPicPr>
          <p:cNvPr id="16" name="Picture 6" descr="binary_h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793" y="3435360"/>
            <a:ext cx="704586" cy="508311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左大括号 17"/>
          <p:cNvSpPr/>
          <p:nvPr/>
        </p:nvSpPr>
        <p:spPr>
          <a:xfrm>
            <a:off x="1748310" y="3175174"/>
            <a:ext cx="303755" cy="1858984"/>
          </a:xfrm>
          <a:prstGeom prst="leftBrace">
            <a:avLst>
              <a:gd name="adj1" fmla="val 8333"/>
              <a:gd name="adj2" fmla="val 5390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700" y="3175174"/>
            <a:ext cx="661667" cy="49625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286" y="3785639"/>
            <a:ext cx="661082" cy="495812"/>
          </a:xfrm>
          <a:prstGeom prst="rect">
            <a:avLst/>
          </a:prstGeom>
        </p:spPr>
      </p:pic>
      <p:sp>
        <p:nvSpPr>
          <p:cNvPr id="23" name="正方形/長方形 9"/>
          <p:cNvSpPr/>
          <p:nvPr/>
        </p:nvSpPr>
        <p:spPr>
          <a:xfrm>
            <a:off x="6307450" y="3975631"/>
            <a:ext cx="1216013" cy="51435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VisualSFM</a:t>
            </a:r>
            <a:endParaRPr lang="en-US" altLang="zh-CN" dirty="0"/>
          </a:p>
        </p:txBody>
      </p:sp>
      <p:sp>
        <p:nvSpPr>
          <p:cNvPr id="25" name="文本框 24"/>
          <p:cNvSpPr txBox="1"/>
          <p:nvPr/>
        </p:nvSpPr>
        <p:spPr>
          <a:xfrm>
            <a:off x="2235072" y="4281451"/>
            <a:ext cx="257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···</a:t>
            </a:r>
            <a:endParaRPr lang="zh-CN" altLang="en-US" dirty="0"/>
          </a:p>
        </p:txBody>
      </p:sp>
      <p:cxnSp>
        <p:nvCxnSpPr>
          <p:cNvPr id="27" name="肘形连接符 26"/>
          <p:cNvCxnSpPr/>
          <p:nvPr/>
        </p:nvCxnSpPr>
        <p:spPr>
          <a:xfrm flipV="1">
            <a:off x="2686489" y="3746122"/>
            <a:ext cx="264552" cy="274544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4792111" y="4032547"/>
            <a:ext cx="2669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···</a:t>
            </a:r>
            <a:endParaRPr lang="zh-CN" altLang="en-US" dirty="0"/>
          </a:p>
        </p:txBody>
      </p:sp>
      <p:sp>
        <p:nvSpPr>
          <p:cNvPr id="32" name="右大括号 31"/>
          <p:cNvSpPr/>
          <p:nvPr/>
        </p:nvSpPr>
        <p:spPr>
          <a:xfrm>
            <a:off x="6055776" y="3449145"/>
            <a:ext cx="205256" cy="1592161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正方形/長方形 9"/>
          <p:cNvSpPr/>
          <p:nvPr/>
        </p:nvSpPr>
        <p:spPr>
          <a:xfrm>
            <a:off x="3214459" y="3444112"/>
            <a:ext cx="899385" cy="51435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decode</a:t>
            </a:r>
            <a:endParaRPr lang="en-US" altLang="zh-CN" dirty="0"/>
          </a:p>
        </p:txBody>
      </p:sp>
      <p:cxnSp>
        <p:nvCxnSpPr>
          <p:cNvPr id="57" name="カギ線コネクタ 13"/>
          <p:cNvCxnSpPr>
            <a:stCxn id="23" idx="3"/>
            <a:endCxn id="14" idx="5"/>
          </p:cNvCxnSpPr>
          <p:nvPr/>
        </p:nvCxnSpPr>
        <p:spPr>
          <a:xfrm>
            <a:off x="7523463" y="4232806"/>
            <a:ext cx="2759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平行四辺形 18"/>
          <p:cNvSpPr/>
          <p:nvPr/>
        </p:nvSpPr>
        <p:spPr>
          <a:xfrm>
            <a:off x="4382608" y="3443897"/>
            <a:ext cx="1672468" cy="514350"/>
          </a:xfrm>
          <a:prstGeom prst="parallelogram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dirty="0"/>
              <a:t>Feature</a:t>
            </a:r>
            <a:r>
              <a:rPr lang="ja-JP" altLang="en-US" dirty="0"/>
              <a:t> </a:t>
            </a:r>
            <a:r>
              <a:rPr lang="en-US" altLang="ja-JP" dirty="0" smtClean="0"/>
              <a:t>Points</a:t>
            </a:r>
            <a:r>
              <a:rPr lang="zh-CN" altLang="en-US" dirty="0"/>
              <a:t> </a:t>
            </a:r>
            <a:r>
              <a:rPr lang="en-US" altLang="zh-CN" dirty="0" smtClean="0"/>
              <a:t>pairs</a:t>
            </a:r>
            <a:endParaRPr lang="en-US" altLang="ja-JP" dirty="0"/>
          </a:p>
        </p:txBody>
      </p:sp>
      <p:cxnSp>
        <p:nvCxnSpPr>
          <p:cNvPr id="45" name="カギ線コネクタ 13"/>
          <p:cNvCxnSpPr>
            <a:stCxn id="53" idx="3"/>
            <a:endCxn id="39" idx="5"/>
          </p:cNvCxnSpPr>
          <p:nvPr/>
        </p:nvCxnSpPr>
        <p:spPr>
          <a:xfrm flipV="1">
            <a:off x="4113844" y="3701072"/>
            <a:ext cx="333058" cy="2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内容占位符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895851"/>
          </a:xfrm>
        </p:spPr>
        <p:txBody>
          <a:bodyPr>
            <a:normAutofit/>
          </a:bodyPr>
          <a:lstStyle/>
          <a:p>
            <a:r>
              <a:rPr lang="ja-JP" altLang="en-US" dirty="0" smtClean="0"/>
              <a:t>概要</a:t>
            </a:r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211971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前回の実験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895851"/>
          </a:xfrm>
        </p:spPr>
        <p:txBody>
          <a:bodyPr>
            <a:normAutofit/>
          </a:bodyPr>
          <a:lstStyle/>
          <a:p>
            <a:r>
              <a:rPr lang="ja-JP" altLang="en-US" dirty="0" smtClean="0"/>
              <a:t>結果</a:t>
            </a:r>
            <a:r>
              <a:rPr lang="zh-CN" altLang="en-US" dirty="0" smtClean="0"/>
              <a:t>（</a:t>
            </a:r>
            <a:r>
              <a:rPr lang="en-US" altLang="zh-CN" dirty="0" err="1"/>
              <a:t>V</a:t>
            </a:r>
            <a:r>
              <a:rPr lang="en-US" altLang="zh-CN" dirty="0" err="1" smtClean="0"/>
              <a:t>isualSFM</a:t>
            </a:r>
            <a:r>
              <a:rPr lang="zh-CN" altLang="en-US" dirty="0" smtClean="0"/>
              <a:t>）</a:t>
            </a:r>
            <a:endParaRPr lang="en-US" altLang="ja-JP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5</a:t>
            </a:fld>
            <a:endParaRPr kumimoji="1" lang="ja-JP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611" y="2449707"/>
            <a:ext cx="2976301" cy="247432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912" y="2449706"/>
            <a:ext cx="3128115" cy="2474329"/>
          </a:xfrm>
          <a:prstGeom prst="rect">
            <a:avLst/>
          </a:prstGeom>
        </p:spPr>
      </p:pic>
      <p:sp>
        <p:nvSpPr>
          <p:cNvPr id="10" name="内容占位符 98"/>
          <p:cNvSpPr txBox="1">
            <a:spLocks/>
          </p:cNvSpPr>
          <p:nvPr/>
        </p:nvSpPr>
        <p:spPr>
          <a:xfrm>
            <a:off x="628650" y="5221456"/>
            <a:ext cx="7886700" cy="80042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 smtClean="0"/>
              <a:t>欠点：プロジェクターが固定されるため，投影された部分しか復元できない。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157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提案手法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50" y="1825625"/>
            <a:ext cx="3573369" cy="4351338"/>
          </a:xfrm>
        </p:spPr>
        <p:txBody>
          <a:bodyPr/>
          <a:lstStyle/>
          <a:p>
            <a:r>
              <a:rPr lang="ja-JP" altLang="en-US" dirty="0" smtClean="0"/>
              <a:t>キャプチャ</a:t>
            </a:r>
            <a:endParaRPr lang="en-US" altLang="ja-JP" dirty="0" smtClean="0"/>
          </a:p>
          <a:p>
            <a:pPr marL="342900" indent="-342900">
              <a:buFont typeface="+mj-ea"/>
              <a:buAutoNum type="circleNumDbPlain"/>
            </a:pPr>
            <a:r>
              <a:rPr lang="ja-JP" altLang="en-US" sz="1800" dirty="0"/>
              <a:t>ひとつのカメラを</a:t>
            </a:r>
            <a:r>
              <a:rPr lang="ja-JP" altLang="en-US" sz="1800" dirty="0" smtClean="0"/>
              <a:t>使い，オブジェクト</a:t>
            </a:r>
            <a:r>
              <a:rPr lang="ja-JP" altLang="en-US" sz="1800" dirty="0"/>
              <a:t>を巡って撮影する。</a:t>
            </a:r>
            <a:endParaRPr lang="en-US" altLang="ja-JP" sz="1800" dirty="0" smtClean="0"/>
          </a:p>
          <a:p>
            <a:pPr marL="342900" indent="-342900">
              <a:buFont typeface="+mj-ea"/>
              <a:buAutoNum type="circleNumDbPlain"/>
            </a:pPr>
            <a:r>
              <a:rPr lang="ja-JP" altLang="en-US" sz="1800" dirty="0" smtClean="0"/>
              <a:t>カメラの位置を固定し</a:t>
            </a:r>
            <a:r>
              <a:rPr lang="ja-JP" altLang="en-US" sz="1800" dirty="0"/>
              <a:t>，</a:t>
            </a:r>
            <a:r>
              <a:rPr lang="ja-JP" altLang="en-US" sz="1800" dirty="0" smtClean="0"/>
              <a:t>プロジェクター位置を調整する。</a:t>
            </a:r>
            <a:endParaRPr lang="en-US" altLang="ja-JP" sz="1800" dirty="0" smtClean="0"/>
          </a:p>
          <a:p>
            <a:pPr marL="342900" indent="-342900">
              <a:buFont typeface="+mj-ea"/>
              <a:buAutoNum type="circleNumDbPlain"/>
            </a:pPr>
            <a:r>
              <a:rPr lang="ja-JP" altLang="en-US" sz="1800" dirty="0" smtClean="0"/>
              <a:t>撮影を繰り返す。</a:t>
            </a:r>
            <a:endParaRPr lang="en-US" altLang="ja-JP" sz="1800" dirty="0"/>
          </a:p>
          <a:p>
            <a:pPr marL="0" indent="0">
              <a:buNone/>
            </a:pPr>
            <a:endParaRPr lang="en-US" altLang="ja-JP" sz="1800" dirty="0" smtClean="0"/>
          </a:p>
          <a:p>
            <a:pPr lvl="1"/>
            <a:endParaRPr lang="en-US" altLang="ja-JP" sz="1800" dirty="0" smtClean="0"/>
          </a:p>
          <a:p>
            <a:pPr lvl="1"/>
            <a:endParaRPr kumimoji="1" lang="ja-JP" altLang="en-US" sz="20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5" name="楕円 4"/>
          <p:cNvSpPr/>
          <p:nvPr/>
        </p:nvSpPr>
        <p:spPr>
          <a:xfrm>
            <a:off x="5361483" y="3047580"/>
            <a:ext cx="1247614" cy="7516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Object</a:t>
            </a:r>
            <a:endParaRPr kumimoji="1" lang="ja-JP" altLang="en-US" dirty="0"/>
          </a:p>
        </p:txBody>
      </p:sp>
      <p:grpSp>
        <p:nvGrpSpPr>
          <p:cNvPr id="51" name="グループ化 50"/>
          <p:cNvGrpSpPr/>
          <p:nvPr/>
        </p:nvGrpSpPr>
        <p:grpSpPr>
          <a:xfrm rot="629018">
            <a:off x="4374707" y="3814429"/>
            <a:ext cx="436970" cy="426920"/>
            <a:chOff x="2926233" y="4366143"/>
            <a:chExt cx="436970" cy="426920"/>
          </a:xfrm>
        </p:grpSpPr>
        <p:cxnSp>
          <p:nvCxnSpPr>
            <p:cNvPr id="7" name="直線コネクタ 6"/>
            <p:cNvCxnSpPr/>
            <p:nvPr/>
          </p:nvCxnSpPr>
          <p:spPr>
            <a:xfrm>
              <a:off x="3096167" y="4366143"/>
              <a:ext cx="267036" cy="275792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コネクタ 11"/>
            <p:cNvCxnSpPr/>
            <p:nvPr/>
          </p:nvCxnSpPr>
          <p:spPr>
            <a:xfrm flipV="1">
              <a:off x="2926233" y="4629867"/>
              <a:ext cx="436970" cy="163196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/>
            <p:cNvCxnSpPr/>
            <p:nvPr/>
          </p:nvCxnSpPr>
          <p:spPr>
            <a:xfrm flipV="1">
              <a:off x="2926233" y="4366143"/>
              <a:ext cx="169934" cy="410728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グループ化 21"/>
          <p:cNvGrpSpPr/>
          <p:nvPr/>
        </p:nvGrpSpPr>
        <p:grpSpPr>
          <a:xfrm rot="20793346">
            <a:off x="4995630" y="4410780"/>
            <a:ext cx="436970" cy="426920"/>
            <a:chOff x="3381121" y="4885577"/>
            <a:chExt cx="436970" cy="426920"/>
          </a:xfrm>
        </p:grpSpPr>
        <p:cxnSp>
          <p:nvCxnSpPr>
            <p:cNvPr id="19" name="直線コネクタ 18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コネクタ 19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グループ化 22"/>
          <p:cNvGrpSpPr/>
          <p:nvPr/>
        </p:nvGrpSpPr>
        <p:grpSpPr>
          <a:xfrm rot="5856494">
            <a:off x="4955242" y="1936978"/>
            <a:ext cx="436970" cy="426920"/>
            <a:chOff x="3381121" y="4885577"/>
            <a:chExt cx="436970" cy="426920"/>
          </a:xfrm>
        </p:grpSpPr>
        <p:cxnSp>
          <p:nvCxnSpPr>
            <p:cNvPr id="24" name="直線コネクタ 23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コネクタ 25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グループ化 26"/>
          <p:cNvGrpSpPr/>
          <p:nvPr/>
        </p:nvGrpSpPr>
        <p:grpSpPr>
          <a:xfrm rot="17009884">
            <a:off x="6717243" y="4338035"/>
            <a:ext cx="436970" cy="426920"/>
            <a:chOff x="3381121" y="4885577"/>
            <a:chExt cx="436970" cy="426920"/>
          </a:xfrm>
        </p:grpSpPr>
        <p:cxnSp>
          <p:nvCxnSpPr>
            <p:cNvPr id="28" name="直線コネクタ 27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コネクタ 28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コネクタ 29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グループ化 30"/>
          <p:cNvGrpSpPr/>
          <p:nvPr/>
        </p:nvGrpSpPr>
        <p:grpSpPr>
          <a:xfrm rot="10589131">
            <a:off x="6983887" y="2381932"/>
            <a:ext cx="436970" cy="426920"/>
            <a:chOff x="3381121" y="4885577"/>
            <a:chExt cx="436970" cy="426920"/>
          </a:xfrm>
        </p:grpSpPr>
        <p:cxnSp>
          <p:nvCxnSpPr>
            <p:cNvPr id="32" name="直線コネクタ 31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コネクタ 32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コネクタ 33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グループ化 34"/>
          <p:cNvGrpSpPr/>
          <p:nvPr/>
        </p:nvGrpSpPr>
        <p:grpSpPr>
          <a:xfrm rot="8441671">
            <a:off x="5955824" y="1785863"/>
            <a:ext cx="436970" cy="426920"/>
            <a:chOff x="3381121" y="4885577"/>
            <a:chExt cx="436970" cy="426920"/>
          </a:xfrm>
        </p:grpSpPr>
        <p:cxnSp>
          <p:nvCxnSpPr>
            <p:cNvPr id="36" name="直線コネクタ 35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コネクタ 36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コネクタ 37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グループ化 38"/>
          <p:cNvGrpSpPr/>
          <p:nvPr/>
        </p:nvGrpSpPr>
        <p:grpSpPr>
          <a:xfrm rot="14258682">
            <a:off x="7215047" y="3495915"/>
            <a:ext cx="436970" cy="426920"/>
            <a:chOff x="3381121" y="4885577"/>
            <a:chExt cx="436970" cy="426920"/>
          </a:xfrm>
        </p:grpSpPr>
        <p:cxnSp>
          <p:nvCxnSpPr>
            <p:cNvPr id="40" name="直線コネクタ 39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コネクタ 40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コネクタ 41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グループ化 42"/>
          <p:cNvGrpSpPr/>
          <p:nvPr/>
        </p:nvGrpSpPr>
        <p:grpSpPr>
          <a:xfrm rot="3735886">
            <a:off x="4331020" y="2820716"/>
            <a:ext cx="436970" cy="426920"/>
            <a:chOff x="3381121" y="4885577"/>
            <a:chExt cx="436970" cy="426920"/>
          </a:xfrm>
        </p:grpSpPr>
        <p:cxnSp>
          <p:nvCxnSpPr>
            <p:cNvPr id="44" name="直線コネクタ 43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コネクタ 44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コネクタ 45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グループ化 46"/>
          <p:cNvGrpSpPr/>
          <p:nvPr/>
        </p:nvGrpSpPr>
        <p:grpSpPr>
          <a:xfrm rot="19182551">
            <a:off x="5731091" y="4639169"/>
            <a:ext cx="436970" cy="426920"/>
            <a:chOff x="3381121" y="4885577"/>
            <a:chExt cx="436970" cy="426920"/>
          </a:xfrm>
        </p:grpSpPr>
        <p:cxnSp>
          <p:nvCxnSpPr>
            <p:cNvPr id="48" name="直線コネクタ 47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コネクタ 49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グループ化 51"/>
          <p:cNvGrpSpPr/>
          <p:nvPr/>
        </p:nvGrpSpPr>
        <p:grpSpPr>
          <a:xfrm rot="17009884">
            <a:off x="6785732" y="4447285"/>
            <a:ext cx="436970" cy="426920"/>
            <a:chOff x="3381121" y="4885577"/>
            <a:chExt cx="436970" cy="426920"/>
          </a:xfrm>
        </p:grpSpPr>
        <p:cxnSp>
          <p:nvCxnSpPr>
            <p:cNvPr id="53" name="直線コネクタ 52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コネクタ 53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コネクタ 54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グループ化 55"/>
          <p:cNvGrpSpPr/>
          <p:nvPr/>
        </p:nvGrpSpPr>
        <p:grpSpPr>
          <a:xfrm rot="8472611">
            <a:off x="5964415" y="1663578"/>
            <a:ext cx="436970" cy="426920"/>
            <a:chOff x="3381121" y="4885577"/>
            <a:chExt cx="436970" cy="426920"/>
          </a:xfrm>
        </p:grpSpPr>
        <p:cxnSp>
          <p:nvCxnSpPr>
            <p:cNvPr id="57" name="直線コネクタ 56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コネクタ 57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コネクタ 58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フローチャート: 手作業 64"/>
          <p:cNvSpPr/>
          <p:nvPr/>
        </p:nvSpPr>
        <p:spPr>
          <a:xfrm rot="889492">
            <a:off x="4757098" y="5445332"/>
            <a:ext cx="1523134" cy="513181"/>
          </a:xfrm>
          <a:prstGeom prst="flowChartManualOperation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 smtClean="0">
                <a:solidFill>
                  <a:schemeClr val="accent5"/>
                </a:solidFill>
              </a:rPr>
              <a:t>Projector</a:t>
            </a:r>
            <a:r>
              <a:rPr lang="ja-JP" altLang="en-US" sz="1400" dirty="0">
                <a:solidFill>
                  <a:schemeClr val="accent5"/>
                </a:solidFill>
              </a:rPr>
              <a:t> </a:t>
            </a:r>
            <a:r>
              <a:rPr lang="en-US" altLang="ja-JP" sz="1400" dirty="0" smtClean="0">
                <a:solidFill>
                  <a:schemeClr val="accent5"/>
                </a:solidFill>
              </a:rPr>
              <a:t>Position 1</a:t>
            </a:r>
            <a:endParaRPr kumimoji="1" lang="ja-JP" altLang="en-US" sz="1400" dirty="0">
              <a:solidFill>
                <a:schemeClr val="accent5"/>
              </a:solidFill>
            </a:endParaRPr>
          </a:p>
        </p:txBody>
      </p:sp>
      <p:sp>
        <p:nvSpPr>
          <p:cNvPr id="66" name="フローチャート: 手作業 65"/>
          <p:cNvSpPr/>
          <p:nvPr/>
        </p:nvSpPr>
        <p:spPr>
          <a:xfrm rot="15381966">
            <a:off x="7708098" y="2443201"/>
            <a:ext cx="1508509" cy="513181"/>
          </a:xfrm>
          <a:prstGeom prst="flowChartManualOperation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accent6"/>
                </a:solidFill>
              </a:rPr>
              <a:t>Projector Position </a:t>
            </a:r>
            <a:r>
              <a:rPr lang="en-US" altLang="ja-JP" sz="1400" dirty="0" smtClean="0">
                <a:solidFill>
                  <a:schemeClr val="accent6"/>
                </a:solidFill>
              </a:rPr>
              <a:t>2</a:t>
            </a:r>
            <a:endParaRPr lang="en-US" altLang="ja-JP" sz="1400" dirty="0">
              <a:solidFill>
                <a:schemeClr val="accent6"/>
              </a:solidFill>
            </a:endParaRPr>
          </a:p>
        </p:txBody>
      </p:sp>
      <p:sp>
        <p:nvSpPr>
          <p:cNvPr id="67" name="フローチャート: 手作業 66"/>
          <p:cNvSpPr/>
          <p:nvPr/>
        </p:nvSpPr>
        <p:spPr>
          <a:xfrm rot="7779247">
            <a:off x="3545576" y="1393020"/>
            <a:ext cx="1523806" cy="513181"/>
          </a:xfrm>
          <a:prstGeom prst="flowChartManualOperation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accent2"/>
                </a:solidFill>
              </a:rPr>
              <a:t>Projector Position </a:t>
            </a:r>
            <a:r>
              <a:rPr lang="en-US" altLang="ja-JP" sz="1400" dirty="0" smtClean="0">
                <a:solidFill>
                  <a:schemeClr val="accent2"/>
                </a:solidFill>
              </a:rPr>
              <a:t>3</a:t>
            </a:r>
            <a:endParaRPr kumimoji="1" lang="ja-JP" altLang="en-US" sz="1400" dirty="0">
              <a:solidFill>
                <a:schemeClr val="accent2"/>
              </a:solidFill>
            </a:endParaRPr>
          </a:p>
        </p:txBody>
      </p:sp>
      <p:sp>
        <p:nvSpPr>
          <p:cNvPr id="68" name="テキスト ボックス 67"/>
          <p:cNvSpPr txBox="1"/>
          <p:nvPr/>
        </p:nvSpPr>
        <p:spPr>
          <a:xfrm>
            <a:off x="4520192" y="4138328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5"/>
                </a:solidFill>
              </a:rPr>
              <a:t>1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69" name="テキスト ボックス 68"/>
          <p:cNvSpPr txBox="1"/>
          <p:nvPr/>
        </p:nvSpPr>
        <p:spPr>
          <a:xfrm>
            <a:off x="5221029" y="4692364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5"/>
                </a:solidFill>
              </a:rPr>
              <a:t>2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70" name="テキスト ボックス 69"/>
          <p:cNvSpPr txBox="1"/>
          <p:nvPr/>
        </p:nvSpPr>
        <p:spPr>
          <a:xfrm>
            <a:off x="6011555" y="4803439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5"/>
                </a:solidFill>
              </a:rPr>
              <a:t>3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71" name="テキスト ボックス 70"/>
          <p:cNvSpPr txBox="1"/>
          <p:nvPr/>
        </p:nvSpPr>
        <p:spPr>
          <a:xfrm>
            <a:off x="7100258" y="4244372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5"/>
                </a:solidFill>
              </a:rPr>
              <a:t>4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72" name="テキスト ボックス 71"/>
          <p:cNvSpPr txBox="1"/>
          <p:nvPr/>
        </p:nvSpPr>
        <p:spPr>
          <a:xfrm>
            <a:off x="7178470" y="4528602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6"/>
                </a:solidFill>
              </a:rPr>
              <a:t>1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74" name="テキスト ボックス 73"/>
          <p:cNvSpPr txBox="1"/>
          <p:nvPr/>
        </p:nvSpPr>
        <p:spPr>
          <a:xfrm>
            <a:off x="7467465" y="3292606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6"/>
                </a:solidFill>
              </a:rPr>
              <a:t>2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75" name="テキスト ボックス 74"/>
          <p:cNvSpPr txBox="1"/>
          <p:nvPr/>
        </p:nvSpPr>
        <p:spPr>
          <a:xfrm>
            <a:off x="6975260" y="2145469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6"/>
                </a:solidFill>
              </a:rPr>
              <a:t>3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76" name="テキスト ボックス 75"/>
          <p:cNvSpPr txBox="1"/>
          <p:nvPr/>
        </p:nvSpPr>
        <p:spPr>
          <a:xfrm>
            <a:off x="6334792" y="1912096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6"/>
                </a:solidFill>
              </a:rPr>
              <a:t>4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77" name="テキスト ボックス 76"/>
          <p:cNvSpPr txBox="1"/>
          <p:nvPr/>
        </p:nvSpPr>
        <p:spPr>
          <a:xfrm>
            <a:off x="6320741" y="1658991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2"/>
                </a:solidFill>
              </a:rPr>
              <a:t>1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79" name="テキスト ボックス 78"/>
          <p:cNvSpPr txBox="1"/>
          <p:nvPr/>
        </p:nvSpPr>
        <p:spPr>
          <a:xfrm>
            <a:off x="5203307" y="1787264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2"/>
                </a:solidFill>
              </a:rPr>
              <a:t>2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80" name="テキスト ボックス 79"/>
          <p:cNvSpPr txBox="1"/>
          <p:nvPr/>
        </p:nvSpPr>
        <p:spPr>
          <a:xfrm>
            <a:off x="4370224" y="2580111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2"/>
                </a:solidFill>
              </a:rPr>
              <a:t>3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905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提案手法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50" y="1825625"/>
            <a:ext cx="3721669" cy="4351338"/>
          </a:xfrm>
        </p:spPr>
        <p:txBody>
          <a:bodyPr/>
          <a:lstStyle/>
          <a:p>
            <a:r>
              <a:rPr lang="ja-JP" altLang="en-US" dirty="0"/>
              <a:t>対応の</a:t>
            </a:r>
            <a:r>
              <a:rPr lang="ja-JP" altLang="en-US" dirty="0" smtClean="0"/>
              <a:t>生成</a:t>
            </a:r>
            <a:endParaRPr lang="en-US" altLang="ja-JP" dirty="0" smtClean="0"/>
          </a:p>
          <a:p>
            <a:r>
              <a:rPr lang="ja-JP" altLang="en-US" sz="1800" dirty="0" smtClean="0"/>
              <a:t>同じプロジェクター位置で，カメラ間の対応点を取得することが</a:t>
            </a:r>
            <a:r>
              <a:rPr lang="ja-JP" altLang="en-US" sz="1800" dirty="0"/>
              <a:t>できる。（前回の実験</a:t>
            </a:r>
            <a:r>
              <a:rPr lang="ja-JP" altLang="en-US" sz="1800" dirty="0" smtClean="0"/>
              <a:t>）</a:t>
            </a:r>
            <a:endParaRPr lang="en-US" altLang="ja-JP" sz="1800" dirty="0" smtClean="0"/>
          </a:p>
          <a:p>
            <a:endParaRPr lang="en-US" altLang="ja-JP" sz="1800" dirty="0" smtClean="0"/>
          </a:p>
          <a:p>
            <a:r>
              <a:rPr lang="ja-JP" altLang="en-US" sz="1800" dirty="0"/>
              <a:t>問題点：隣接のプロジェクター位置の画像間の対応の生成</a:t>
            </a:r>
          </a:p>
          <a:p>
            <a:pPr marL="0" indent="0">
              <a:buNone/>
            </a:pPr>
            <a:endParaRPr lang="en-US" altLang="ja-JP" sz="1800" dirty="0" smtClean="0"/>
          </a:p>
          <a:p>
            <a:pPr lvl="1"/>
            <a:endParaRPr lang="en-US" altLang="ja-JP" sz="1800" dirty="0" smtClean="0"/>
          </a:p>
          <a:p>
            <a:pPr lvl="1"/>
            <a:endParaRPr kumimoji="1" lang="ja-JP" altLang="en-US" sz="20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5" name="楕円 4"/>
          <p:cNvSpPr/>
          <p:nvPr/>
        </p:nvSpPr>
        <p:spPr>
          <a:xfrm>
            <a:off x="5361483" y="3047580"/>
            <a:ext cx="1247614" cy="7516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Object</a:t>
            </a:r>
            <a:endParaRPr kumimoji="1" lang="ja-JP" altLang="en-US" dirty="0"/>
          </a:p>
        </p:txBody>
      </p:sp>
      <p:grpSp>
        <p:nvGrpSpPr>
          <p:cNvPr id="51" name="グループ化 50"/>
          <p:cNvGrpSpPr/>
          <p:nvPr/>
        </p:nvGrpSpPr>
        <p:grpSpPr>
          <a:xfrm rot="629018">
            <a:off x="4374707" y="3814429"/>
            <a:ext cx="436970" cy="426920"/>
            <a:chOff x="2926233" y="4366143"/>
            <a:chExt cx="436970" cy="426920"/>
          </a:xfrm>
        </p:grpSpPr>
        <p:cxnSp>
          <p:nvCxnSpPr>
            <p:cNvPr id="7" name="直線コネクタ 6"/>
            <p:cNvCxnSpPr/>
            <p:nvPr/>
          </p:nvCxnSpPr>
          <p:spPr>
            <a:xfrm>
              <a:off x="3096167" y="4366143"/>
              <a:ext cx="267036" cy="275792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コネクタ 11"/>
            <p:cNvCxnSpPr/>
            <p:nvPr/>
          </p:nvCxnSpPr>
          <p:spPr>
            <a:xfrm flipV="1">
              <a:off x="2926233" y="4629867"/>
              <a:ext cx="436970" cy="163196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/>
            <p:cNvCxnSpPr/>
            <p:nvPr/>
          </p:nvCxnSpPr>
          <p:spPr>
            <a:xfrm flipV="1">
              <a:off x="2926233" y="4366143"/>
              <a:ext cx="169934" cy="410728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グループ化 21"/>
          <p:cNvGrpSpPr/>
          <p:nvPr/>
        </p:nvGrpSpPr>
        <p:grpSpPr>
          <a:xfrm rot="20793346">
            <a:off x="4995630" y="4410780"/>
            <a:ext cx="436970" cy="426920"/>
            <a:chOff x="3381121" y="4885577"/>
            <a:chExt cx="436970" cy="426920"/>
          </a:xfrm>
        </p:grpSpPr>
        <p:cxnSp>
          <p:nvCxnSpPr>
            <p:cNvPr id="19" name="直線コネクタ 18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コネクタ 19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グループ化 22"/>
          <p:cNvGrpSpPr/>
          <p:nvPr/>
        </p:nvGrpSpPr>
        <p:grpSpPr>
          <a:xfrm rot="5856494">
            <a:off x="4955242" y="1936978"/>
            <a:ext cx="436970" cy="426920"/>
            <a:chOff x="3381121" y="4885577"/>
            <a:chExt cx="436970" cy="426920"/>
          </a:xfrm>
        </p:grpSpPr>
        <p:cxnSp>
          <p:nvCxnSpPr>
            <p:cNvPr id="24" name="直線コネクタ 23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コネクタ 25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グループ化 26"/>
          <p:cNvGrpSpPr/>
          <p:nvPr/>
        </p:nvGrpSpPr>
        <p:grpSpPr>
          <a:xfrm rot="17009884">
            <a:off x="6717243" y="4338035"/>
            <a:ext cx="436970" cy="426920"/>
            <a:chOff x="3381121" y="4885577"/>
            <a:chExt cx="436970" cy="426920"/>
          </a:xfrm>
        </p:grpSpPr>
        <p:cxnSp>
          <p:nvCxnSpPr>
            <p:cNvPr id="28" name="直線コネクタ 27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コネクタ 28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コネクタ 29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グループ化 30"/>
          <p:cNvGrpSpPr/>
          <p:nvPr/>
        </p:nvGrpSpPr>
        <p:grpSpPr>
          <a:xfrm rot="10589131">
            <a:off x="6983887" y="2381932"/>
            <a:ext cx="436970" cy="426920"/>
            <a:chOff x="3381121" y="4885577"/>
            <a:chExt cx="436970" cy="426920"/>
          </a:xfrm>
        </p:grpSpPr>
        <p:cxnSp>
          <p:nvCxnSpPr>
            <p:cNvPr id="32" name="直線コネクタ 31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コネクタ 32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コネクタ 33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グループ化 34"/>
          <p:cNvGrpSpPr/>
          <p:nvPr/>
        </p:nvGrpSpPr>
        <p:grpSpPr>
          <a:xfrm rot="8441671">
            <a:off x="5955824" y="1785863"/>
            <a:ext cx="436970" cy="426920"/>
            <a:chOff x="3381121" y="4885577"/>
            <a:chExt cx="436970" cy="426920"/>
          </a:xfrm>
        </p:grpSpPr>
        <p:cxnSp>
          <p:nvCxnSpPr>
            <p:cNvPr id="36" name="直線コネクタ 35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コネクタ 36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コネクタ 37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グループ化 38"/>
          <p:cNvGrpSpPr/>
          <p:nvPr/>
        </p:nvGrpSpPr>
        <p:grpSpPr>
          <a:xfrm rot="14258682">
            <a:off x="7215047" y="3495915"/>
            <a:ext cx="436970" cy="426920"/>
            <a:chOff x="3381121" y="4885577"/>
            <a:chExt cx="436970" cy="426920"/>
          </a:xfrm>
        </p:grpSpPr>
        <p:cxnSp>
          <p:nvCxnSpPr>
            <p:cNvPr id="40" name="直線コネクタ 39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コネクタ 40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コネクタ 41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グループ化 42"/>
          <p:cNvGrpSpPr/>
          <p:nvPr/>
        </p:nvGrpSpPr>
        <p:grpSpPr>
          <a:xfrm rot="3735886">
            <a:off x="4331020" y="2820716"/>
            <a:ext cx="436970" cy="426920"/>
            <a:chOff x="3381121" y="4885577"/>
            <a:chExt cx="436970" cy="426920"/>
          </a:xfrm>
        </p:grpSpPr>
        <p:cxnSp>
          <p:nvCxnSpPr>
            <p:cNvPr id="44" name="直線コネクタ 43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コネクタ 44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コネクタ 45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グループ化 46"/>
          <p:cNvGrpSpPr/>
          <p:nvPr/>
        </p:nvGrpSpPr>
        <p:grpSpPr>
          <a:xfrm rot="19182551">
            <a:off x="5731091" y="4639169"/>
            <a:ext cx="436970" cy="426920"/>
            <a:chOff x="3381121" y="4885577"/>
            <a:chExt cx="436970" cy="426920"/>
          </a:xfrm>
        </p:grpSpPr>
        <p:cxnSp>
          <p:nvCxnSpPr>
            <p:cNvPr id="48" name="直線コネクタ 47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コネクタ 49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グループ化 51"/>
          <p:cNvGrpSpPr/>
          <p:nvPr/>
        </p:nvGrpSpPr>
        <p:grpSpPr>
          <a:xfrm rot="17009884">
            <a:off x="6785732" y="4447285"/>
            <a:ext cx="436970" cy="426920"/>
            <a:chOff x="3381121" y="4885577"/>
            <a:chExt cx="436970" cy="426920"/>
          </a:xfrm>
        </p:grpSpPr>
        <p:cxnSp>
          <p:nvCxnSpPr>
            <p:cNvPr id="53" name="直線コネクタ 52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コネクタ 53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コネクタ 54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グループ化 55"/>
          <p:cNvGrpSpPr/>
          <p:nvPr/>
        </p:nvGrpSpPr>
        <p:grpSpPr>
          <a:xfrm rot="8472611">
            <a:off x="5964415" y="1663578"/>
            <a:ext cx="436970" cy="426920"/>
            <a:chOff x="3381121" y="4885577"/>
            <a:chExt cx="436970" cy="426920"/>
          </a:xfrm>
        </p:grpSpPr>
        <p:cxnSp>
          <p:nvCxnSpPr>
            <p:cNvPr id="57" name="直線コネクタ 56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コネクタ 57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コネクタ 58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フローチャート: 手作業 64"/>
          <p:cNvSpPr/>
          <p:nvPr/>
        </p:nvSpPr>
        <p:spPr>
          <a:xfrm rot="889492">
            <a:off x="4757098" y="5445332"/>
            <a:ext cx="1523134" cy="513181"/>
          </a:xfrm>
          <a:prstGeom prst="flowChartManualOperation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 smtClean="0">
                <a:solidFill>
                  <a:schemeClr val="accent5"/>
                </a:solidFill>
              </a:rPr>
              <a:t>Projector</a:t>
            </a:r>
            <a:r>
              <a:rPr lang="ja-JP" altLang="en-US" sz="1400" dirty="0">
                <a:solidFill>
                  <a:schemeClr val="accent5"/>
                </a:solidFill>
              </a:rPr>
              <a:t> </a:t>
            </a:r>
            <a:r>
              <a:rPr lang="en-US" altLang="ja-JP" sz="1400" dirty="0" smtClean="0">
                <a:solidFill>
                  <a:schemeClr val="accent5"/>
                </a:solidFill>
              </a:rPr>
              <a:t>Position 1</a:t>
            </a:r>
            <a:endParaRPr kumimoji="1" lang="ja-JP" altLang="en-US" sz="1400" dirty="0">
              <a:solidFill>
                <a:schemeClr val="accent5"/>
              </a:solidFill>
            </a:endParaRPr>
          </a:p>
        </p:txBody>
      </p:sp>
      <p:sp>
        <p:nvSpPr>
          <p:cNvPr id="66" name="フローチャート: 手作業 65"/>
          <p:cNvSpPr/>
          <p:nvPr/>
        </p:nvSpPr>
        <p:spPr>
          <a:xfrm rot="15381966">
            <a:off x="7708098" y="2443201"/>
            <a:ext cx="1508509" cy="513181"/>
          </a:xfrm>
          <a:prstGeom prst="flowChartManualOperation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accent6"/>
                </a:solidFill>
              </a:rPr>
              <a:t>Projector Position </a:t>
            </a:r>
            <a:r>
              <a:rPr lang="en-US" altLang="ja-JP" sz="1400" dirty="0" smtClean="0">
                <a:solidFill>
                  <a:schemeClr val="accent6"/>
                </a:solidFill>
              </a:rPr>
              <a:t>2</a:t>
            </a:r>
            <a:endParaRPr lang="en-US" altLang="ja-JP" sz="1400" dirty="0">
              <a:solidFill>
                <a:schemeClr val="accent6"/>
              </a:solidFill>
            </a:endParaRPr>
          </a:p>
        </p:txBody>
      </p:sp>
      <p:sp>
        <p:nvSpPr>
          <p:cNvPr id="67" name="フローチャート: 手作業 66"/>
          <p:cNvSpPr/>
          <p:nvPr/>
        </p:nvSpPr>
        <p:spPr>
          <a:xfrm rot="7779247">
            <a:off x="3545576" y="1393020"/>
            <a:ext cx="1523806" cy="513181"/>
          </a:xfrm>
          <a:prstGeom prst="flowChartManualOperation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accent2"/>
                </a:solidFill>
              </a:rPr>
              <a:t>Projector Position </a:t>
            </a:r>
            <a:r>
              <a:rPr lang="en-US" altLang="ja-JP" sz="1400" dirty="0" smtClean="0">
                <a:solidFill>
                  <a:schemeClr val="accent2"/>
                </a:solidFill>
              </a:rPr>
              <a:t>3</a:t>
            </a:r>
            <a:endParaRPr kumimoji="1" lang="ja-JP" altLang="en-US" sz="1400" dirty="0">
              <a:solidFill>
                <a:schemeClr val="accent2"/>
              </a:solidFill>
            </a:endParaRPr>
          </a:p>
        </p:txBody>
      </p:sp>
      <p:sp>
        <p:nvSpPr>
          <p:cNvPr id="68" name="テキスト ボックス 67"/>
          <p:cNvSpPr txBox="1"/>
          <p:nvPr/>
        </p:nvSpPr>
        <p:spPr>
          <a:xfrm>
            <a:off x="4520192" y="4138328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5"/>
                </a:solidFill>
              </a:rPr>
              <a:t>1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69" name="テキスト ボックス 68"/>
          <p:cNvSpPr txBox="1"/>
          <p:nvPr/>
        </p:nvSpPr>
        <p:spPr>
          <a:xfrm>
            <a:off x="5221029" y="4692364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5"/>
                </a:solidFill>
              </a:rPr>
              <a:t>2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70" name="テキスト ボックス 69"/>
          <p:cNvSpPr txBox="1"/>
          <p:nvPr/>
        </p:nvSpPr>
        <p:spPr>
          <a:xfrm>
            <a:off x="6011555" y="4803439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5"/>
                </a:solidFill>
              </a:rPr>
              <a:t>3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71" name="テキスト ボックス 70"/>
          <p:cNvSpPr txBox="1"/>
          <p:nvPr/>
        </p:nvSpPr>
        <p:spPr>
          <a:xfrm>
            <a:off x="7100258" y="4244372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5"/>
                </a:solidFill>
              </a:rPr>
              <a:t>4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72" name="テキスト ボックス 71"/>
          <p:cNvSpPr txBox="1"/>
          <p:nvPr/>
        </p:nvSpPr>
        <p:spPr>
          <a:xfrm>
            <a:off x="7178470" y="4528602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6"/>
                </a:solidFill>
              </a:rPr>
              <a:t>1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74" name="テキスト ボックス 73"/>
          <p:cNvSpPr txBox="1"/>
          <p:nvPr/>
        </p:nvSpPr>
        <p:spPr>
          <a:xfrm>
            <a:off x="7467465" y="3292606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6"/>
                </a:solidFill>
              </a:rPr>
              <a:t>2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75" name="テキスト ボックス 74"/>
          <p:cNvSpPr txBox="1"/>
          <p:nvPr/>
        </p:nvSpPr>
        <p:spPr>
          <a:xfrm>
            <a:off x="6975260" y="2145469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6"/>
                </a:solidFill>
              </a:rPr>
              <a:t>3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76" name="テキスト ボックス 75"/>
          <p:cNvSpPr txBox="1"/>
          <p:nvPr/>
        </p:nvSpPr>
        <p:spPr>
          <a:xfrm>
            <a:off x="6334792" y="1912096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6"/>
                </a:solidFill>
              </a:rPr>
              <a:t>4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77" name="テキスト ボックス 76"/>
          <p:cNvSpPr txBox="1"/>
          <p:nvPr/>
        </p:nvSpPr>
        <p:spPr>
          <a:xfrm>
            <a:off x="6320741" y="1658991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2"/>
                </a:solidFill>
              </a:rPr>
              <a:t>1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79" name="テキスト ボックス 78"/>
          <p:cNvSpPr txBox="1"/>
          <p:nvPr/>
        </p:nvSpPr>
        <p:spPr>
          <a:xfrm>
            <a:off x="5203307" y="1787264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2"/>
                </a:solidFill>
              </a:rPr>
              <a:t>2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80" name="テキスト ボックス 79"/>
          <p:cNvSpPr txBox="1"/>
          <p:nvPr/>
        </p:nvSpPr>
        <p:spPr>
          <a:xfrm>
            <a:off x="4370224" y="2580111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2"/>
                </a:solidFill>
              </a:rPr>
              <a:t>3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6113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提案手法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/>
          <a:lstStyle/>
          <a:p>
            <a:r>
              <a:rPr lang="ja-JP" altLang="en-US" dirty="0"/>
              <a:t>対応の</a:t>
            </a:r>
            <a:r>
              <a:rPr lang="ja-JP" altLang="en-US" dirty="0" smtClean="0"/>
              <a:t>生成</a:t>
            </a:r>
            <a:endParaRPr lang="en-US" altLang="ja-JP" dirty="0" smtClean="0"/>
          </a:p>
          <a:p>
            <a:r>
              <a:rPr lang="ja-JP" altLang="en-US" sz="1800" dirty="0" smtClean="0"/>
              <a:t>隣接</a:t>
            </a:r>
            <a:r>
              <a:rPr lang="ja-JP" altLang="en-US" sz="1800" dirty="0"/>
              <a:t>の</a:t>
            </a:r>
            <a:r>
              <a:rPr lang="ja-JP" altLang="en-US" sz="1800" dirty="0" smtClean="0"/>
              <a:t>プロジェクター</a:t>
            </a:r>
            <a:r>
              <a:rPr lang="ja-JP" altLang="en-US" sz="1800" dirty="0"/>
              <a:t>位置の画像間の対応の</a:t>
            </a:r>
            <a:r>
              <a:rPr lang="ja-JP" altLang="en-US" sz="1800" dirty="0" smtClean="0"/>
              <a:t>生成</a:t>
            </a:r>
            <a:endParaRPr lang="en-US" altLang="ja-JP" sz="1800" dirty="0" smtClean="0"/>
          </a:p>
          <a:p>
            <a:pPr marL="0" indent="0">
              <a:buNone/>
            </a:pPr>
            <a:endParaRPr lang="en-US" altLang="ja-JP" sz="1800" dirty="0" smtClean="0"/>
          </a:p>
          <a:p>
            <a:pPr marL="0" indent="0">
              <a:buNone/>
            </a:pPr>
            <a:r>
              <a:rPr lang="ja-JP" altLang="en-US" sz="1800" dirty="0" smtClean="0"/>
              <a:t>隣接</a:t>
            </a:r>
            <a:r>
              <a:rPr lang="ja-JP" altLang="en-US" sz="1800" dirty="0"/>
              <a:t>の</a:t>
            </a:r>
            <a:r>
              <a:rPr lang="ja-JP" altLang="en-US" sz="1800" dirty="0" smtClean="0"/>
              <a:t>プロジェクターの同じ位置カメラの画像</a:t>
            </a:r>
            <a:endParaRPr lang="en-US" altLang="ja-JP" sz="1800" dirty="0" smtClean="0"/>
          </a:p>
          <a:p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8</a:t>
            </a:fld>
            <a:endParaRPr kumimoji="1" lang="ja-JP" altLang="en-US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3362" y="3850109"/>
            <a:ext cx="984094" cy="738071"/>
          </a:xfrm>
          <a:prstGeom prst="rect">
            <a:avLst/>
          </a:prstGeom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3363" y="4703827"/>
            <a:ext cx="985878" cy="739409"/>
          </a:xfrm>
          <a:prstGeom prst="rect">
            <a:avLst/>
          </a:prstGeom>
        </p:spPr>
      </p:pic>
      <p:pic>
        <p:nvPicPr>
          <p:cNvPr id="9" name="図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525" y="3850109"/>
            <a:ext cx="984095" cy="738071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741" y="4703827"/>
            <a:ext cx="985879" cy="739409"/>
          </a:xfrm>
          <a:prstGeom prst="rect">
            <a:avLst/>
          </a:prstGeom>
        </p:spPr>
      </p:pic>
      <p:sp>
        <p:nvSpPr>
          <p:cNvPr id="11" name="正方形/長方形 10"/>
          <p:cNvSpPr/>
          <p:nvPr/>
        </p:nvSpPr>
        <p:spPr>
          <a:xfrm>
            <a:off x="3661593" y="4304959"/>
            <a:ext cx="105196" cy="1294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正方形/長方形 72"/>
          <p:cNvSpPr/>
          <p:nvPr/>
        </p:nvSpPr>
        <p:spPr>
          <a:xfrm>
            <a:off x="3661593" y="5157342"/>
            <a:ext cx="105196" cy="1294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/>
        </p:nvSpPr>
        <p:spPr>
          <a:xfrm>
            <a:off x="4361770" y="3406743"/>
            <a:ext cx="1173345" cy="11814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正方形/長方形 77"/>
          <p:cNvSpPr/>
          <p:nvPr/>
        </p:nvSpPr>
        <p:spPr>
          <a:xfrm>
            <a:off x="4361769" y="4703827"/>
            <a:ext cx="1173345" cy="11814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/>
          <p:cNvSpPr/>
          <p:nvPr/>
        </p:nvSpPr>
        <p:spPr>
          <a:xfrm>
            <a:off x="4539629" y="373851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楕円 80"/>
          <p:cNvSpPr/>
          <p:nvPr/>
        </p:nvSpPr>
        <p:spPr>
          <a:xfrm>
            <a:off x="4878145" y="4141768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楕円 81"/>
          <p:cNvSpPr/>
          <p:nvPr/>
        </p:nvSpPr>
        <p:spPr>
          <a:xfrm>
            <a:off x="4844429" y="4415548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楕円 82"/>
          <p:cNvSpPr/>
          <p:nvPr/>
        </p:nvSpPr>
        <p:spPr>
          <a:xfrm>
            <a:off x="5328601" y="419571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楕円 83"/>
          <p:cNvSpPr/>
          <p:nvPr/>
        </p:nvSpPr>
        <p:spPr>
          <a:xfrm>
            <a:off x="5149229" y="3595560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楕円 84"/>
          <p:cNvSpPr/>
          <p:nvPr/>
        </p:nvSpPr>
        <p:spPr>
          <a:xfrm>
            <a:off x="4692029" y="389091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楕円 85"/>
          <p:cNvSpPr/>
          <p:nvPr/>
        </p:nvSpPr>
        <p:spPr>
          <a:xfrm>
            <a:off x="5020939" y="3913775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7" name="楕円 86"/>
          <p:cNvSpPr/>
          <p:nvPr/>
        </p:nvSpPr>
        <p:spPr>
          <a:xfrm>
            <a:off x="5301629" y="3747960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正方形/長方形 16"/>
          <p:cNvSpPr/>
          <p:nvPr/>
        </p:nvSpPr>
        <p:spPr>
          <a:xfrm>
            <a:off x="3661593" y="5948992"/>
            <a:ext cx="130534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100" dirty="0" smtClean="0"/>
              <a:t>コード付く特徴点</a:t>
            </a:r>
            <a:endParaRPr lang="ja-JP" altLang="en-US" sz="1100" dirty="0"/>
          </a:p>
        </p:txBody>
      </p:sp>
      <p:sp>
        <p:nvSpPr>
          <p:cNvPr id="89" name="楕円 88"/>
          <p:cNvSpPr/>
          <p:nvPr/>
        </p:nvSpPr>
        <p:spPr>
          <a:xfrm>
            <a:off x="4489729" y="5065244"/>
            <a:ext cx="45719" cy="4571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楕円 89"/>
          <p:cNvSpPr/>
          <p:nvPr/>
        </p:nvSpPr>
        <p:spPr>
          <a:xfrm>
            <a:off x="4836337" y="5589876"/>
            <a:ext cx="45719" cy="4571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楕円 90"/>
          <p:cNvSpPr/>
          <p:nvPr/>
        </p:nvSpPr>
        <p:spPr>
          <a:xfrm>
            <a:off x="5013013" y="5709908"/>
            <a:ext cx="45719" cy="4571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楕円 91"/>
          <p:cNvSpPr/>
          <p:nvPr/>
        </p:nvSpPr>
        <p:spPr>
          <a:xfrm>
            <a:off x="5278701" y="5490076"/>
            <a:ext cx="45719" cy="4571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" name="楕円 92"/>
          <p:cNvSpPr/>
          <p:nvPr/>
        </p:nvSpPr>
        <p:spPr>
          <a:xfrm>
            <a:off x="5083145" y="4873736"/>
            <a:ext cx="45719" cy="4571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4" name="楕円 93"/>
          <p:cNvSpPr/>
          <p:nvPr/>
        </p:nvSpPr>
        <p:spPr>
          <a:xfrm>
            <a:off x="4755417" y="5201460"/>
            <a:ext cx="45719" cy="4571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楕円 94"/>
          <p:cNvSpPr/>
          <p:nvPr/>
        </p:nvSpPr>
        <p:spPr>
          <a:xfrm>
            <a:off x="5108603" y="5208135"/>
            <a:ext cx="45719" cy="4571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6" name="楕円 95"/>
          <p:cNvSpPr/>
          <p:nvPr/>
        </p:nvSpPr>
        <p:spPr>
          <a:xfrm>
            <a:off x="5267913" y="4985676"/>
            <a:ext cx="45719" cy="4571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右矢印 15"/>
          <p:cNvSpPr/>
          <p:nvPr/>
        </p:nvSpPr>
        <p:spPr>
          <a:xfrm>
            <a:off x="2394725" y="4424396"/>
            <a:ext cx="860618" cy="44321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 smtClean="0">
                <a:solidFill>
                  <a:schemeClr val="tx1"/>
                </a:solidFill>
              </a:rPr>
              <a:t>デコード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97" name="正方形/長方形 16"/>
          <p:cNvSpPr/>
          <p:nvPr/>
        </p:nvSpPr>
        <p:spPr>
          <a:xfrm>
            <a:off x="253660" y="3980272"/>
            <a:ext cx="137557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100" dirty="0" smtClean="0">
                <a:solidFill>
                  <a:schemeClr val="accent5"/>
                </a:solidFill>
              </a:rPr>
              <a:t>プロジェクター１</a:t>
            </a:r>
            <a:endParaRPr lang="en-US" altLang="ja-JP" sz="1100" dirty="0" smtClean="0">
              <a:solidFill>
                <a:schemeClr val="accent5"/>
              </a:solidFill>
            </a:endParaRPr>
          </a:p>
          <a:p>
            <a:r>
              <a:rPr lang="ja-JP" altLang="en-US" sz="1100" dirty="0" smtClean="0">
                <a:solidFill>
                  <a:schemeClr val="accent5"/>
                </a:solidFill>
              </a:rPr>
              <a:t>カメラ４</a:t>
            </a:r>
            <a:endParaRPr lang="ja-JP" altLang="en-US" sz="1100" dirty="0">
              <a:solidFill>
                <a:schemeClr val="accent5"/>
              </a:solidFill>
            </a:endParaRPr>
          </a:p>
        </p:txBody>
      </p:sp>
      <p:sp>
        <p:nvSpPr>
          <p:cNvPr id="98" name="正方形/長方形 16"/>
          <p:cNvSpPr/>
          <p:nvPr/>
        </p:nvSpPr>
        <p:spPr>
          <a:xfrm>
            <a:off x="249398" y="4863658"/>
            <a:ext cx="137557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100" dirty="0" smtClean="0">
                <a:solidFill>
                  <a:schemeClr val="accent6"/>
                </a:solidFill>
              </a:rPr>
              <a:t>プロジェクター２</a:t>
            </a:r>
            <a:endParaRPr lang="en-US" altLang="ja-JP" sz="1100" dirty="0" smtClean="0">
              <a:solidFill>
                <a:schemeClr val="accent6"/>
              </a:solidFill>
            </a:endParaRPr>
          </a:p>
          <a:p>
            <a:r>
              <a:rPr lang="ja-JP" altLang="en-US" sz="1100" dirty="0" smtClean="0">
                <a:solidFill>
                  <a:schemeClr val="accent6"/>
                </a:solidFill>
              </a:rPr>
              <a:t>カメラ１</a:t>
            </a:r>
            <a:endParaRPr lang="ja-JP" altLang="en-US" sz="1100" dirty="0">
              <a:solidFill>
                <a:schemeClr val="accent6"/>
              </a:solidFill>
            </a:endParaRPr>
          </a:p>
        </p:txBody>
      </p:sp>
      <p:cxnSp>
        <p:nvCxnSpPr>
          <p:cNvPr id="18" name="直線コネクタ 17"/>
          <p:cNvCxnSpPr>
            <a:stCxn id="11" idx="0"/>
          </p:cNvCxnSpPr>
          <p:nvPr/>
        </p:nvCxnSpPr>
        <p:spPr>
          <a:xfrm flipV="1">
            <a:off x="3714191" y="3406743"/>
            <a:ext cx="647578" cy="89821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/>
          <p:cNvCxnSpPr>
            <a:stCxn id="11" idx="2"/>
          </p:cNvCxnSpPr>
          <p:nvPr/>
        </p:nvCxnSpPr>
        <p:spPr>
          <a:xfrm>
            <a:off x="3714191" y="4434431"/>
            <a:ext cx="647578" cy="1500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/>
          <p:cNvCxnSpPr>
            <a:stCxn id="73" idx="0"/>
          </p:cNvCxnSpPr>
          <p:nvPr/>
        </p:nvCxnSpPr>
        <p:spPr>
          <a:xfrm flipV="1">
            <a:off x="3714191" y="4703827"/>
            <a:ext cx="654164" cy="4535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/>
          <p:cNvCxnSpPr>
            <a:stCxn id="73" idx="2"/>
          </p:cNvCxnSpPr>
          <p:nvPr/>
        </p:nvCxnSpPr>
        <p:spPr>
          <a:xfrm>
            <a:off x="3714191" y="5286814"/>
            <a:ext cx="654164" cy="5984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正方形/長方形 105"/>
          <p:cNvSpPr/>
          <p:nvPr/>
        </p:nvSpPr>
        <p:spPr>
          <a:xfrm>
            <a:off x="5916384" y="4031616"/>
            <a:ext cx="1173345" cy="11814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" name="楕円 106"/>
          <p:cNvSpPr/>
          <p:nvPr/>
        </p:nvSpPr>
        <p:spPr>
          <a:xfrm>
            <a:off x="6044344" y="4393033"/>
            <a:ext cx="45719" cy="4571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" name="楕円 107"/>
          <p:cNvSpPr/>
          <p:nvPr/>
        </p:nvSpPr>
        <p:spPr>
          <a:xfrm>
            <a:off x="6390952" y="4917665"/>
            <a:ext cx="45719" cy="4571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" name="楕円 108"/>
          <p:cNvSpPr/>
          <p:nvPr/>
        </p:nvSpPr>
        <p:spPr>
          <a:xfrm>
            <a:off x="6567628" y="5037697"/>
            <a:ext cx="45719" cy="4571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" name="楕円 109"/>
          <p:cNvSpPr/>
          <p:nvPr/>
        </p:nvSpPr>
        <p:spPr>
          <a:xfrm>
            <a:off x="6800948" y="4817865"/>
            <a:ext cx="45719" cy="4571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" name="楕円 110"/>
          <p:cNvSpPr/>
          <p:nvPr/>
        </p:nvSpPr>
        <p:spPr>
          <a:xfrm>
            <a:off x="6637760" y="4201525"/>
            <a:ext cx="45719" cy="4571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" name="楕円 111"/>
          <p:cNvSpPr/>
          <p:nvPr/>
        </p:nvSpPr>
        <p:spPr>
          <a:xfrm>
            <a:off x="6310032" y="4529249"/>
            <a:ext cx="45719" cy="4571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" name="楕円 112"/>
          <p:cNvSpPr/>
          <p:nvPr/>
        </p:nvSpPr>
        <p:spPr>
          <a:xfrm>
            <a:off x="6663218" y="4535924"/>
            <a:ext cx="45719" cy="4571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4" name="楕円 113"/>
          <p:cNvSpPr/>
          <p:nvPr/>
        </p:nvSpPr>
        <p:spPr>
          <a:xfrm>
            <a:off x="6822528" y="4313465"/>
            <a:ext cx="45719" cy="4571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7" name="楕円 126"/>
          <p:cNvSpPr/>
          <p:nvPr/>
        </p:nvSpPr>
        <p:spPr>
          <a:xfrm>
            <a:off x="6093131" y="4358471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8" name="楕円 127"/>
          <p:cNvSpPr/>
          <p:nvPr/>
        </p:nvSpPr>
        <p:spPr>
          <a:xfrm>
            <a:off x="6431647" y="4761723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9" name="楕円 128"/>
          <p:cNvSpPr/>
          <p:nvPr/>
        </p:nvSpPr>
        <p:spPr>
          <a:xfrm>
            <a:off x="6397931" y="5035503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0" name="楕円 129"/>
          <p:cNvSpPr/>
          <p:nvPr/>
        </p:nvSpPr>
        <p:spPr>
          <a:xfrm>
            <a:off x="6882103" y="4815671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1" name="楕円 130"/>
          <p:cNvSpPr/>
          <p:nvPr/>
        </p:nvSpPr>
        <p:spPr>
          <a:xfrm>
            <a:off x="6702731" y="4215515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2" name="楕円 131"/>
          <p:cNvSpPr/>
          <p:nvPr/>
        </p:nvSpPr>
        <p:spPr>
          <a:xfrm>
            <a:off x="6245531" y="4510871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3" name="楕円 132"/>
          <p:cNvSpPr/>
          <p:nvPr/>
        </p:nvSpPr>
        <p:spPr>
          <a:xfrm>
            <a:off x="6574441" y="4533730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4" name="楕円 133"/>
          <p:cNvSpPr/>
          <p:nvPr/>
        </p:nvSpPr>
        <p:spPr>
          <a:xfrm>
            <a:off x="6855131" y="4367915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6" name="直線コネクタ 135"/>
          <p:cNvCxnSpPr>
            <a:stCxn id="6" idx="1"/>
            <a:endCxn id="6" idx="1"/>
          </p:cNvCxnSpPr>
          <p:nvPr/>
        </p:nvCxnSpPr>
        <p:spPr>
          <a:xfrm>
            <a:off x="3153362" y="4219145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コネクタ 137"/>
          <p:cNvCxnSpPr>
            <a:stCxn id="127" idx="4"/>
            <a:endCxn id="107" idx="6"/>
          </p:cNvCxnSpPr>
          <p:nvPr/>
        </p:nvCxnSpPr>
        <p:spPr>
          <a:xfrm flipH="1">
            <a:off x="6090063" y="4404190"/>
            <a:ext cx="25928" cy="1170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線コネクタ 138"/>
          <p:cNvCxnSpPr>
            <a:stCxn id="112" idx="2"/>
            <a:endCxn id="132" idx="5"/>
          </p:cNvCxnSpPr>
          <p:nvPr/>
        </p:nvCxnSpPr>
        <p:spPr>
          <a:xfrm flipH="1" flipV="1">
            <a:off x="6284555" y="4549895"/>
            <a:ext cx="25477" cy="221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コネクタ 141"/>
          <p:cNvCxnSpPr>
            <a:stCxn id="113" idx="2"/>
            <a:endCxn id="133" idx="6"/>
          </p:cNvCxnSpPr>
          <p:nvPr/>
        </p:nvCxnSpPr>
        <p:spPr>
          <a:xfrm flipH="1" flipV="1">
            <a:off x="6620160" y="4556590"/>
            <a:ext cx="43058" cy="219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コネクタ 144"/>
          <p:cNvCxnSpPr>
            <a:stCxn id="131" idx="2"/>
            <a:endCxn id="111" idx="5"/>
          </p:cNvCxnSpPr>
          <p:nvPr/>
        </p:nvCxnSpPr>
        <p:spPr>
          <a:xfrm flipH="1">
            <a:off x="6676784" y="4238375"/>
            <a:ext cx="25947" cy="217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線コネクタ 147"/>
          <p:cNvCxnSpPr>
            <a:stCxn id="134" idx="0"/>
            <a:endCxn id="114" idx="5"/>
          </p:cNvCxnSpPr>
          <p:nvPr/>
        </p:nvCxnSpPr>
        <p:spPr>
          <a:xfrm flipH="1" flipV="1">
            <a:off x="6861552" y="4352489"/>
            <a:ext cx="16439" cy="1542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線コネクタ 152"/>
          <p:cNvCxnSpPr>
            <a:stCxn id="130" idx="3"/>
            <a:endCxn id="110" idx="0"/>
          </p:cNvCxnSpPr>
          <p:nvPr/>
        </p:nvCxnSpPr>
        <p:spPr>
          <a:xfrm flipH="1" flipV="1">
            <a:off x="6823808" y="4817865"/>
            <a:ext cx="64990" cy="3683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右矢印 155"/>
          <p:cNvSpPr/>
          <p:nvPr/>
        </p:nvSpPr>
        <p:spPr>
          <a:xfrm>
            <a:off x="5429175" y="4434431"/>
            <a:ext cx="565374" cy="44321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 smtClean="0">
                <a:solidFill>
                  <a:schemeClr val="tx1"/>
                </a:solidFill>
              </a:rPr>
              <a:t>Map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graphicFrame>
        <p:nvGraphicFramePr>
          <p:cNvPr id="157" name="表 1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123286"/>
              </p:ext>
            </p:extLst>
          </p:nvPr>
        </p:nvGraphicFramePr>
        <p:xfrm>
          <a:off x="7261894" y="3728938"/>
          <a:ext cx="1690554" cy="191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5277">
                  <a:extLst>
                    <a:ext uri="{9D8B030D-6E8A-4147-A177-3AD203B41FA5}">
                      <a16:colId xmlns:a16="http://schemas.microsoft.com/office/drawing/2014/main" xmlns="" val="2606950001"/>
                    </a:ext>
                  </a:extLst>
                </a:gridCol>
                <a:gridCol w="845277">
                  <a:extLst>
                    <a:ext uri="{9D8B030D-6E8A-4147-A177-3AD203B41FA5}">
                      <a16:colId xmlns:a16="http://schemas.microsoft.com/office/drawing/2014/main" xmlns="" val="389584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 smtClean="0"/>
                        <a:t>Code in projector 1</a:t>
                      </a:r>
                      <a:endParaRPr kumimoji="1" lang="ja-JP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100" dirty="0" smtClean="0"/>
                        <a:t>Code in projector 2</a:t>
                      </a:r>
                      <a:endParaRPr kumimoji="1" lang="ja-JP" altLang="en-US" sz="11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612351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 smtClean="0"/>
                        <a:t>code1</a:t>
                      </a:r>
                      <a:endParaRPr kumimoji="1" lang="ja-JP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 smtClean="0"/>
                        <a:t>code51</a:t>
                      </a:r>
                      <a:endParaRPr kumimoji="1" lang="ja-JP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562406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 smtClean="0"/>
                        <a:t>code2</a:t>
                      </a:r>
                      <a:endParaRPr kumimoji="1" lang="ja-JP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 smtClean="0"/>
                        <a:t>code39</a:t>
                      </a:r>
                      <a:endParaRPr kumimoji="1" lang="ja-JP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307635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 smtClean="0"/>
                        <a:t>code3</a:t>
                      </a:r>
                      <a:endParaRPr kumimoji="1" lang="ja-JP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 smtClean="0"/>
                        <a:t>code32</a:t>
                      </a:r>
                      <a:endParaRPr kumimoji="1" lang="ja-JP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73292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 smtClean="0"/>
                        <a:t>…</a:t>
                      </a:r>
                      <a:endParaRPr kumimoji="1" lang="ja-JP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 smtClean="0"/>
                        <a:t>…</a:t>
                      </a:r>
                      <a:endParaRPr kumimoji="1" lang="ja-JP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228821904"/>
                  </a:ext>
                </a:extLst>
              </a:tr>
            </a:tbl>
          </a:graphicData>
        </a:graphic>
      </p:graphicFrame>
      <p:sp>
        <p:nvSpPr>
          <p:cNvPr id="158" name="正方形/長方形 16"/>
          <p:cNvSpPr/>
          <p:nvPr/>
        </p:nvSpPr>
        <p:spPr>
          <a:xfrm>
            <a:off x="7608869" y="3418745"/>
            <a:ext cx="84983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100" dirty="0" smtClean="0"/>
              <a:t>Code</a:t>
            </a:r>
            <a:r>
              <a:rPr lang="ja-JP" altLang="en-US" sz="1100" dirty="0"/>
              <a:t> </a:t>
            </a:r>
            <a:r>
              <a:rPr lang="en-US" altLang="ja-JP" sz="1100" dirty="0" smtClean="0"/>
              <a:t>Map</a:t>
            </a:r>
            <a:endParaRPr lang="ja-JP" altLang="en-US" sz="1100" dirty="0"/>
          </a:p>
        </p:txBody>
      </p:sp>
      <p:sp>
        <p:nvSpPr>
          <p:cNvPr id="159" name="左右矢印 158"/>
          <p:cNvSpPr/>
          <p:nvPr/>
        </p:nvSpPr>
        <p:spPr>
          <a:xfrm>
            <a:off x="7949376" y="4261234"/>
            <a:ext cx="315589" cy="163162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0" name="左右矢印 159"/>
          <p:cNvSpPr/>
          <p:nvPr/>
        </p:nvSpPr>
        <p:spPr>
          <a:xfrm>
            <a:off x="7949375" y="4638377"/>
            <a:ext cx="315589" cy="163162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1" name="左右矢印 160"/>
          <p:cNvSpPr/>
          <p:nvPr/>
        </p:nvSpPr>
        <p:spPr>
          <a:xfrm>
            <a:off x="7952371" y="5025492"/>
            <a:ext cx="315589" cy="163162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2" name="正方形/長方形 16"/>
          <p:cNvSpPr/>
          <p:nvPr/>
        </p:nvSpPr>
        <p:spPr>
          <a:xfrm>
            <a:off x="5657359" y="5364097"/>
            <a:ext cx="160453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100" dirty="0" smtClean="0"/>
              <a:t>一番近い特徴点を探す</a:t>
            </a:r>
            <a:endParaRPr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158612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提案手法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50" y="1825625"/>
            <a:ext cx="3628405" cy="4351338"/>
          </a:xfrm>
        </p:spPr>
        <p:txBody>
          <a:bodyPr/>
          <a:lstStyle/>
          <a:p>
            <a:r>
              <a:rPr lang="ja-JP" altLang="en-US" dirty="0"/>
              <a:t>対応の</a:t>
            </a:r>
            <a:r>
              <a:rPr lang="ja-JP" altLang="en-US" dirty="0" smtClean="0"/>
              <a:t>生成</a:t>
            </a:r>
            <a:endParaRPr lang="en-US" altLang="ja-JP" dirty="0" smtClean="0"/>
          </a:p>
          <a:p>
            <a:r>
              <a:rPr lang="ja-JP" altLang="en-US" sz="1800" dirty="0" smtClean="0"/>
              <a:t>例えば，</a:t>
            </a:r>
            <a:r>
              <a:rPr lang="en-US" altLang="ja-JP" sz="1800" dirty="0" smtClean="0">
                <a:solidFill>
                  <a:schemeClr val="accent5"/>
                </a:solidFill>
              </a:rPr>
              <a:t>Projector</a:t>
            </a:r>
            <a:r>
              <a:rPr lang="ja-JP" altLang="en-US" sz="1800" dirty="0" smtClean="0">
                <a:solidFill>
                  <a:schemeClr val="accent5"/>
                </a:solidFill>
              </a:rPr>
              <a:t> </a:t>
            </a:r>
            <a:r>
              <a:rPr lang="en-US" altLang="ja-JP" sz="1800" dirty="0" smtClean="0">
                <a:solidFill>
                  <a:schemeClr val="accent5"/>
                </a:solidFill>
              </a:rPr>
              <a:t>Position 1</a:t>
            </a:r>
            <a:r>
              <a:rPr lang="ja-JP" altLang="en-US" sz="1800" dirty="0" smtClean="0"/>
              <a:t>のカメラ</a:t>
            </a:r>
            <a:r>
              <a:rPr lang="ja-JP" altLang="en-US" sz="1800" dirty="0" smtClean="0">
                <a:solidFill>
                  <a:schemeClr val="accent5"/>
                </a:solidFill>
              </a:rPr>
              <a:t>２</a:t>
            </a:r>
            <a:r>
              <a:rPr lang="ja-JP" altLang="en-US" sz="1800" dirty="0" smtClean="0"/>
              <a:t>と</a:t>
            </a:r>
            <a:r>
              <a:rPr lang="en-US" altLang="ja-JP" sz="1800" dirty="0">
                <a:solidFill>
                  <a:schemeClr val="accent6"/>
                </a:solidFill>
              </a:rPr>
              <a:t>Projector Position </a:t>
            </a:r>
            <a:r>
              <a:rPr lang="en-US" altLang="ja-JP" sz="1800" dirty="0" smtClean="0">
                <a:solidFill>
                  <a:schemeClr val="accent6"/>
                </a:solidFill>
              </a:rPr>
              <a:t>2</a:t>
            </a:r>
            <a:r>
              <a:rPr lang="ja-JP" altLang="en-US" sz="1800" dirty="0" smtClean="0"/>
              <a:t>のカメラ</a:t>
            </a:r>
            <a:r>
              <a:rPr lang="ja-JP" altLang="en-US" sz="1800" dirty="0" smtClean="0">
                <a:solidFill>
                  <a:schemeClr val="accent6"/>
                </a:solidFill>
              </a:rPr>
              <a:t>３</a:t>
            </a:r>
            <a:r>
              <a:rPr lang="ja-JP" altLang="en-US" sz="1800" dirty="0" smtClean="0"/>
              <a:t>の対応点を探す場合</a:t>
            </a:r>
            <a:endParaRPr lang="en-US" altLang="ja-JP" sz="1800" dirty="0" smtClean="0"/>
          </a:p>
          <a:p>
            <a:endParaRPr lang="en-US" altLang="ja-JP" sz="1800" dirty="0" smtClean="0"/>
          </a:p>
          <a:p>
            <a:pPr lvl="1"/>
            <a:endParaRPr lang="en-US" altLang="ja-JP" sz="1800" dirty="0" smtClean="0"/>
          </a:p>
          <a:p>
            <a:pPr lvl="1"/>
            <a:endParaRPr kumimoji="1" lang="ja-JP" altLang="en-US" sz="20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5" name="楕円 4"/>
          <p:cNvSpPr/>
          <p:nvPr/>
        </p:nvSpPr>
        <p:spPr>
          <a:xfrm>
            <a:off x="5643145" y="3043901"/>
            <a:ext cx="1247614" cy="7516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Object</a:t>
            </a:r>
            <a:endParaRPr kumimoji="1" lang="ja-JP" altLang="en-US" dirty="0"/>
          </a:p>
        </p:txBody>
      </p:sp>
      <p:grpSp>
        <p:nvGrpSpPr>
          <p:cNvPr id="51" name="グループ化 50"/>
          <p:cNvGrpSpPr/>
          <p:nvPr/>
        </p:nvGrpSpPr>
        <p:grpSpPr>
          <a:xfrm rot="629018">
            <a:off x="4656369" y="3810750"/>
            <a:ext cx="436970" cy="426920"/>
            <a:chOff x="2926233" y="4366143"/>
            <a:chExt cx="436970" cy="426920"/>
          </a:xfrm>
        </p:grpSpPr>
        <p:cxnSp>
          <p:nvCxnSpPr>
            <p:cNvPr id="7" name="直線コネクタ 6"/>
            <p:cNvCxnSpPr/>
            <p:nvPr/>
          </p:nvCxnSpPr>
          <p:spPr>
            <a:xfrm>
              <a:off x="3096167" y="4366143"/>
              <a:ext cx="267036" cy="275792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コネクタ 11"/>
            <p:cNvCxnSpPr/>
            <p:nvPr/>
          </p:nvCxnSpPr>
          <p:spPr>
            <a:xfrm flipV="1">
              <a:off x="2926233" y="4629867"/>
              <a:ext cx="436970" cy="163196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/>
            <p:cNvCxnSpPr/>
            <p:nvPr/>
          </p:nvCxnSpPr>
          <p:spPr>
            <a:xfrm flipV="1">
              <a:off x="2926233" y="4366143"/>
              <a:ext cx="169934" cy="410728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グループ化 21"/>
          <p:cNvGrpSpPr/>
          <p:nvPr/>
        </p:nvGrpSpPr>
        <p:grpSpPr>
          <a:xfrm rot="20793346">
            <a:off x="5277292" y="4407101"/>
            <a:ext cx="436970" cy="426920"/>
            <a:chOff x="3381121" y="4885577"/>
            <a:chExt cx="436970" cy="426920"/>
          </a:xfrm>
        </p:grpSpPr>
        <p:cxnSp>
          <p:nvCxnSpPr>
            <p:cNvPr id="19" name="直線コネクタ 18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コネクタ 19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グループ化 22"/>
          <p:cNvGrpSpPr/>
          <p:nvPr/>
        </p:nvGrpSpPr>
        <p:grpSpPr>
          <a:xfrm rot="5856494">
            <a:off x="5236904" y="1933299"/>
            <a:ext cx="436970" cy="426920"/>
            <a:chOff x="3381121" y="4885577"/>
            <a:chExt cx="436970" cy="426920"/>
          </a:xfrm>
        </p:grpSpPr>
        <p:cxnSp>
          <p:nvCxnSpPr>
            <p:cNvPr id="24" name="直線コネクタ 23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コネクタ 25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グループ化 26"/>
          <p:cNvGrpSpPr/>
          <p:nvPr/>
        </p:nvGrpSpPr>
        <p:grpSpPr>
          <a:xfrm rot="17009884">
            <a:off x="6998905" y="4334356"/>
            <a:ext cx="436970" cy="426920"/>
            <a:chOff x="3381121" y="4885577"/>
            <a:chExt cx="436970" cy="426920"/>
          </a:xfrm>
        </p:grpSpPr>
        <p:cxnSp>
          <p:nvCxnSpPr>
            <p:cNvPr id="28" name="直線コネクタ 27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コネクタ 28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コネクタ 29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グループ化 30"/>
          <p:cNvGrpSpPr/>
          <p:nvPr/>
        </p:nvGrpSpPr>
        <p:grpSpPr>
          <a:xfrm rot="10589131">
            <a:off x="7265549" y="2378253"/>
            <a:ext cx="436970" cy="426920"/>
            <a:chOff x="3381121" y="4885577"/>
            <a:chExt cx="436970" cy="426920"/>
          </a:xfrm>
        </p:grpSpPr>
        <p:cxnSp>
          <p:nvCxnSpPr>
            <p:cNvPr id="32" name="直線コネクタ 31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コネクタ 32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コネクタ 33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グループ化 34"/>
          <p:cNvGrpSpPr/>
          <p:nvPr/>
        </p:nvGrpSpPr>
        <p:grpSpPr>
          <a:xfrm rot="8441671">
            <a:off x="6237486" y="1782184"/>
            <a:ext cx="436970" cy="426920"/>
            <a:chOff x="3381121" y="4885577"/>
            <a:chExt cx="436970" cy="426920"/>
          </a:xfrm>
        </p:grpSpPr>
        <p:cxnSp>
          <p:nvCxnSpPr>
            <p:cNvPr id="36" name="直線コネクタ 35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コネクタ 36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コネクタ 37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グループ化 38"/>
          <p:cNvGrpSpPr/>
          <p:nvPr/>
        </p:nvGrpSpPr>
        <p:grpSpPr>
          <a:xfrm rot="14258682">
            <a:off x="7496709" y="3492236"/>
            <a:ext cx="436970" cy="426920"/>
            <a:chOff x="3381121" y="4885577"/>
            <a:chExt cx="436970" cy="426920"/>
          </a:xfrm>
        </p:grpSpPr>
        <p:cxnSp>
          <p:nvCxnSpPr>
            <p:cNvPr id="40" name="直線コネクタ 39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コネクタ 40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コネクタ 41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グループ化 42"/>
          <p:cNvGrpSpPr/>
          <p:nvPr/>
        </p:nvGrpSpPr>
        <p:grpSpPr>
          <a:xfrm rot="3735886">
            <a:off x="4612682" y="2817037"/>
            <a:ext cx="436970" cy="426920"/>
            <a:chOff x="3381121" y="4885577"/>
            <a:chExt cx="436970" cy="426920"/>
          </a:xfrm>
        </p:grpSpPr>
        <p:cxnSp>
          <p:nvCxnSpPr>
            <p:cNvPr id="44" name="直線コネクタ 43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コネクタ 44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コネクタ 45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グループ化 46"/>
          <p:cNvGrpSpPr/>
          <p:nvPr/>
        </p:nvGrpSpPr>
        <p:grpSpPr>
          <a:xfrm rot="19182551">
            <a:off x="6012753" y="4635490"/>
            <a:ext cx="436970" cy="426920"/>
            <a:chOff x="3381121" y="4885577"/>
            <a:chExt cx="436970" cy="426920"/>
          </a:xfrm>
        </p:grpSpPr>
        <p:cxnSp>
          <p:nvCxnSpPr>
            <p:cNvPr id="48" name="直線コネクタ 47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コネクタ 49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グループ化 51"/>
          <p:cNvGrpSpPr/>
          <p:nvPr/>
        </p:nvGrpSpPr>
        <p:grpSpPr>
          <a:xfrm rot="17009884">
            <a:off x="7067394" y="4443606"/>
            <a:ext cx="436970" cy="426920"/>
            <a:chOff x="3381121" y="4885577"/>
            <a:chExt cx="436970" cy="426920"/>
          </a:xfrm>
        </p:grpSpPr>
        <p:cxnSp>
          <p:nvCxnSpPr>
            <p:cNvPr id="53" name="直線コネクタ 52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コネクタ 53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コネクタ 54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グループ化 55"/>
          <p:cNvGrpSpPr/>
          <p:nvPr/>
        </p:nvGrpSpPr>
        <p:grpSpPr>
          <a:xfrm rot="8472611">
            <a:off x="6246077" y="1659899"/>
            <a:ext cx="436970" cy="426920"/>
            <a:chOff x="3381121" y="4885577"/>
            <a:chExt cx="436970" cy="426920"/>
          </a:xfrm>
        </p:grpSpPr>
        <p:cxnSp>
          <p:nvCxnSpPr>
            <p:cNvPr id="57" name="直線コネクタ 56"/>
            <p:cNvCxnSpPr/>
            <p:nvPr/>
          </p:nvCxnSpPr>
          <p:spPr>
            <a:xfrm>
              <a:off x="3551055" y="4885577"/>
              <a:ext cx="267036" cy="275792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コネクタ 57"/>
            <p:cNvCxnSpPr/>
            <p:nvPr/>
          </p:nvCxnSpPr>
          <p:spPr>
            <a:xfrm flipV="1">
              <a:off x="3381121" y="5149301"/>
              <a:ext cx="436970" cy="163196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コネクタ 58"/>
            <p:cNvCxnSpPr/>
            <p:nvPr/>
          </p:nvCxnSpPr>
          <p:spPr>
            <a:xfrm flipV="1">
              <a:off x="3381121" y="4885577"/>
              <a:ext cx="169934" cy="410728"/>
            </a:xfrm>
            <a:prstGeom prst="line">
              <a:avLst/>
            </a:prstGeom>
            <a:ln w="1905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フローチャート: 手作業 64"/>
          <p:cNvSpPr/>
          <p:nvPr/>
        </p:nvSpPr>
        <p:spPr>
          <a:xfrm rot="889492">
            <a:off x="5038760" y="5441653"/>
            <a:ext cx="1523134" cy="513181"/>
          </a:xfrm>
          <a:prstGeom prst="flowChartManualOperation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 smtClean="0">
                <a:solidFill>
                  <a:schemeClr val="accent5"/>
                </a:solidFill>
              </a:rPr>
              <a:t>Projector</a:t>
            </a:r>
            <a:r>
              <a:rPr lang="ja-JP" altLang="en-US" sz="1400" dirty="0">
                <a:solidFill>
                  <a:schemeClr val="accent5"/>
                </a:solidFill>
              </a:rPr>
              <a:t> </a:t>
            </a:r>
            <a:r>
              <a:rPr lang="en-US" altLang="ja-JP" sz="1400" dirty="0" smtClean="0">
                <a:solidFill>
                  <a:schemeClr val="accent5"/>
                </a:solidFill>
              </a:rPr>
              <a:t>Position 1</a:t>
            </a:r>
            <a:endParaRPr kumimoji="1" lang="ja-JP" altLang="en-US" sz="1400" dirty="0">
              <a:solidFill>
                <a:schemeClr val="accent5"/>
              </a:solidFill>
            </a:endParaRPr>
          </a:p>
        </p:txBody>
      </p:sp>
      <p:sp>
        <p:nvSpPr>
          <p:cNvPr id="66" name="フローチャート: 手作業 65"/>
          <p:cNvSpPr/>
          <p:nvPr/>
        </p:nvSpPr>
        <p:spPr>
          <a:xfrm rot="15381966">
            <a:off x="7989760" y="2439522"/>
            <a:ext cx="1508509" cy="513181"/>
          </a:xfrm>
          <a:prstGeom prst="flowChartManualOperation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accent6"/>
                </a:solidFill>
              </a:rPr>
              <a:t>Projector Position </a:t>
            </a:r>
            <a:r>
              <a:rPr lang="en-US" altLang="ja-JP" sz="1400" dirty="0" smtClean="0">
                <a:solidFill>
                  <a:schemeClr val="accent6"/>
                </a:solidFill>
              </a:rPr>
              <a:t>2</a:t>
            </a:r>
            <a:endParaRPr lang="en-US" altLang="ja-JP" sz="1400" dirty="0">
              <a:solidFill>
                <a:schemeClr val="accent6"/>
              </a:solidFill>
            </a:endParaRPr>
          </a:p>
        </p:txBody>
      </p:sp>
      <p:sp>
        <p:nvSpPr>
          <p:cNvPr id="67" name="フローチャート: 手作業 66"/>
          <p:cNvSpPr/>
          <p:nvPr/>
        </p:nvSpPr>
        <p:spPr>
          <a:xfrm rot="7779247">
            <a:off x="3827238" y="1389341"/>
            <a:ext cx="1523806" cy="513181"/>
          </a:xfrm>
          <a:prstGeom prst="flowChartManualOperation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accent2"/>
                </a:solidFill>
              </a:rPr>
              <a:t>Projector Position </a:t>
            </a:r>
            <a:r>
              <a:rPr lang="en-US" altLang="ja-JP" sz="1400" dirty="0" smtClean="0">
                <a:solidFill>
                  <a:schemeClr val="accent2"/>
                </a:solidFill>
              </a:rPr>
              <a:t>3</a:t>
            </a:r>
            <a:endParaRPr kumimoji="1" lang="ja-JP" altLang="en-US" sz="1400" dirty="0">
              <a:solidFill>
                <a:schemeClr val="accent2"/>
              </a:solidFill>
            </a:endParaRPr>
          </a:p>
        </p:txBody>
      </p:sp>
      <p:sp>
        <p:nvSpPr>
          <p:cNvPr id="68" name="テキスト ボックス 67"/>
          <p:cNvSpPr txBox="1"/>
          <p:nvPr/>
        </p:nvSpPr>
        <p:spPr>
          <a:xfrm>
            <a:off x="4801854" y="4134649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5"/>
                </a:solidFill>
              </a:rPr>
              <a:t>1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69" name="テキスト ボックス 68"/>
          <p:cNvSpPr txBox="1"/>
          <p:nvPr/>
        </p:nvSpPr>
        <p:spPr>
          <a:xfrm>
            <a:off x="5502691" y="4688685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5"/>
                </a:solidFill>
              </a:rPr>
              <a:t>2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70" name="テキスト ボックス 69"/>
          <p:cNvSpPr txBox="1"/>
          <p:nvPr/>
        </p:nvSpPr>
        <p:spPr>
          <a:xfrm>
            <a:off x="6293217" y="4799760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5"/>
                </a:solidFill>
              </a:rPr>
              <a:t>3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71" name="テキスト ボックス 70"/>
          <p:cNvSpPr txBox="1"/>
          <p:nvPr/>
        </p:nvSpPr>
        <p:spPr>
          <a:xfrm>
            <a:off x="7381920" y="4240693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5"/>
                </a:solidFill>
              </a:rPr>
              <a:t>4</a:t>
            </a:r>
            <a:endParaRPr kumimoji="1" lang="ja-JP" altLang="en-US" dirty="0">
              <a:solidFill>
                <a:schemeClr val="accent5"/>
              </a:solidFill>
            </a:endParaRPr>
          </a:p>
        </p:txBody>
      </p:sp>
      <p:sp>
        <p:nvSpPr>
          <p:cNvPr id="72" name="テキスト ボックス 71"/>
          <p:cNvSpPr txBox="1"/>
          <p:nvPr/>
        </p:nvSpPr>
        <p:spPr>
          <a:xfrm>
            <a:off x="7460132" y="4524923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6"/>
                </a:solidFill>
              </a:rPr>
              <a:t>1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74" name="テキスト ボックス 73"/>
          <p:cNvSpPr txBox="1"/>
          <p:nvPr/>
        </p:nvSpPr>
        <p:spPr>
          <a:xfrm>
            <a:off x="7749127" y="3288927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6"/>
                </a:solidFill>
              </a:rPr>
              <a:t>2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75" name="テキスト ボックス 74"/>
          <p:cNvSpPr txBox="1"/>
          <p:nvPr/>
        </p:nvSpPr>
        <p:spPr>
          <a:xfrm>
            <a:off x="7256922" y="2141790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6"/>
                </a:solidFill>
              </a:rPr>
              <a:t>3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76" name="テキスト ボックス 75"/>
          <p:cNvSpPr txBox="1"/>
          <p:nvPr/>
        </p:nvSpPr>
        <p:spPr>
          <a:xfrm>
            <a:off x="6616454" y="1908417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6"/>
                </a:solidFill>
              </a:rPr>
              <a:t>4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77" name="テキスト ボックス 76"/>
          <p:cNvSpPr txBox="1"/>
          <p:nvPr/>
        </p:nvSpPr>
        <p:spPr>
          <a:xfrm>
            <a:off x="6602403" y="1655312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2"/>
                </a:solidFill>
              </a:rPr>
              <a:t>1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79" name="テキスト ボックス 78"/>
          <p:cNvSpPr txBox="1"/>
          <p:nvPr/>
        </p:nvSpPr>
        <p:spPr>
          <a:xfrm>
            <a:off x="5484969" y="1783585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2"/>
                </a:solidFill>
              </a:rPr>
              <a:t>2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80" name="テキスト ボックス 79"/>
          <p:cNvSpPr txBox="1"/>
          <p:nvPr/>
        </p:nvSpPr>
        <p:spPr>
          <a:xfrm>
            <a:off x="4651886" y="2576432"/>
            <a:ext cx="2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solidFill>
                  <a:schemeClr val="accent2"/>
                </a:solidFill>
              </a:rPr>
              <a:t>3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graphicFrame>
        <p:nvGraphicFramePr>
          <p:cNvPr id="84" name="表 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301172"/>
              </p:ext>
            </p:extLst>
          </p:nvPr>
        </p:nvGraphicFramePr>
        <p:xfrm>
          <a:off x="1418042" y="3491452"/>
          <a:ext cx="1690554" cy="191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5277">
                  <a:extLst>
                    <a:ext uri="{9D8B030D-6E8A-4147-A177-3AD203B41FA5}">
                      <a16:colId xmlns:a16="http://schemas.microsoft.com/office/drawing/2014/main" xmlns="" val="2606950001"/>
                    </a:ext>
                  </a:extLst>
                </a:gridCol>
                <a:gridCol w="845277">
                  <a:extLst>
                    <a:ext uri="{9D8B030D-6E8A-4147-A177-3AD203B41FA5}">
                      <a16:colId xmlns:a16="http://schemas.microsoft.com/office/drawing/2014/main" xmlns="" val="389584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 smtClean="0"/>
                        <a:t>Code in projector 1</a:t>
                      </a:r>
                      <a:endParaRPr kumimoji="1" lang="ja-JP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100" dirty="0" smtClean="0"/>
                        <a:t>Code in projector 2</a:t>
                      </a:r>
                      <a:endParaRPr kumimoji="1" lang="ja-JP" altLang="en-US" sz="11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612351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 smtClean="0"/>
                        <a:t>code1</a:t>
                      </a:r>
                      <a:endParaRPr kumimoji="1" lang="ja-JP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 smtClean="0"/>
                        <a:t>code51</a:t>
                      </a:r>
                      <a:endParaRPr kumimoji="1" lang="ja-JP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562406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 smtClean="0"/>
                        <a:t>code2</a:t>
                      </a:r>
                      <a:endParaRPr kumimoji="1" lang="ja-JP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 smtClean="0"/>
                        <a:t>code39</a:t>
                      </a:r>
                      <a:endParaRPr kumimoji="1" lang="ja-JP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307635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 smtClean="0"/>
                        <a:t>code3</a:t>
                      </a:r>
                      <a:endParaRPr kumimoji="1" lang="ja-JP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 smtClean="0"/>
                        <a:t>code32</a:t>
                      </a:r>
                      <a:endParaRPr kumimoji="1" lang="ja-JP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73292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 smtClean="0"/>
                        <a:t>…</a:t>
                      </a:r>
                      <a:endParaRPr kumimoji="1" lang="ja-JP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 smtClean="0"/>
                        <a:t>…</a:t>
                      </a:r>
                      <a:endParaRPr kumimoji="1" lang="ja-JP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228821904"/>
                  </a:ext>
                </a:extLst>
              </a:tr>
            </a:tbl>
          </a:graphicData>
        </a:graphic>
      </p:graphicFrame>
      <p:sp>
        <p:nvSpPr>
          <p:cNvPr id="85" name="正方形/長方形 16"/>
          <p:cNvSpPr/>
          <p:nvPr/>
        </p:nvSpPr>
        <p:spPr>
          <a:xfrm>
            <a:off x="1765017" y="3181259"/>
            <a:ext cx="84983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100" dirty="0" smtClean="0"/>
              <a:t>Code</a:t>
            </a:r>
            <a:r>
              <a:rPr lang="ja-JP" altLang="en-US" sz="1100" dirty="0"/>
              <a:t> </a:t>
            </a:r>
            <a:r>
              <a:rPr lang="en-US" altLang="ja-JP" sz="1100" dirty="0" smtClean="0"/>
              <a:t>Map</a:t>
            </a:r>
            <a:endParaRPr lang="ja-JP" altLang="en-US" sz="1100" dirty="0"/>
          </a:p>
        </p:txBody>
      </p:sp>
      <p:sp>
        <p:nvSpPr>
          <p:cNvPr id="86" name="左右矢印 85"/>
          <p:cNvSpPr/>
          <p:nvPr/>
        </p:nvSpPr>
        <p:spPr>
          <a:xfrm>
            <a:off x="2105524" y="4023748"/>
            <a:ext cx="315589" cy="163162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7" name="左右矢印 86"/>
          <p:cNvSpPr/>
          <p:nvPr/>
        </p:nvSpPr>
        <p:spPr>
          <a:xfrm>
            <a:off x="2105523" y="4400891"/>
            <a:ext cx="315589" cy="163162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左右矢印 87"/>
          <p:cNvSpPr/>
          <p:nvPr/>
        </p:nvSpPr>
        <p:spPr>
          <a:xfrm>
            <a:off x="2108519" y="4788006"/>
            <a:ext cx="315589" cy="163162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正方形/長方形 16"/>
          <p:cNvSpPr/>
          <p:nvPr/>
        </p:nvSpPr>
        <p:spPr>
          <a:xfrm>
            <a:off x="67269" y="3962969"/>
            <a:ext cx="1375578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100" dirty="0" smtClean="0">
                <a:solidFill>
                  <a:schemeClr val="accent5"/>
                </a:solidFill>
              </a:rPr>
              <a:t>Projector</a:t>
            </a:r>
            <a:r>
              <a:rPr lang="ja-JP" altLang="en-US" sz="1100" dirty="0" smtClean="0">
                <a:solidFill>
                  <a:schemeClr val="accent5"/>
                </a:solidFill>
              </a:rPr>
              <a:t> </a:t>
            </a:r>
            <a:r>
              <a:rPr lang="en-US" altLang="ja-JP" sz="1100" dirty="0" smtClean="0">
                <a:solidFill>
                  <a:schemeClr val="accent5"/>
                </a:solidFill>
              </a:rPr>
              <a:t>Position 1</a:t>
            </a:r>
            <a:r>
              <a:rPr lang="ja-JP" altLang="en-US" sz="1100" dirty="0" smtClean="0"/>
              <a:t>のカメラ</a:t>
            </a:r>
            <a:r>
              <a:rPr lang="ja-JP" altLang="en-US" sz="1100" dirty="0">
                <a:solidFill>
                  <a:schemeClr val="accent5"/>
                </a:solidFill>
              </a:rPr>
              <a:t>２</a:t>
            </a:r>
            <a:r>
              <a:rPr lang="ja-JP" altLang="en-US" sz="1100" dirty="0"/>
              <a:t>のコード付く</a:t>
            </a:r>
            <a:r>
              <a:rPr lang="ja-JP" altLang="en-US" sz="1100" dirty="0" smtClean="0"/>
              <a:t>特徴点：</a:t>
            </a:r>
            <a:endParaRPr lang="en-US" altLang="ja-JP" sz="1100" dirty="0" smtClean="0"/>
          </a:p>
          <a:p>
            <a:r>
              <a:rPr lang="en-US" altLang="zh-CN" sz="1100" dirty="0" smtClean="0">
                <a:solidFill>
                  <a:schemeClr val="accent5"/>
                </a:solidFill>
              </a:rPr>
              <a:t>Code3</a:t>
            </a:r>
            <a:r>
              <a:rPr lang="zh-CN" altLang="en-US" sz="1100" dirty="0" smtClean="0">
                <a:solidFill>
                  <a:schemeClr val="accent5"/>
                </a:solidFill>
              </a:rPr>
              <a:t>，</a:t>
            </a:r>
            <a:r>
              <a:rPr lang="en-US" altLang="ja-JP" sz="1100" dirty="0" smtClean="0">
                <a:solidFill>
                  <a:schemeClr val="accent5"/>
                </a:solidFill>
              </a:rPr>
              <a:t>Point</a:t>
            </a:r>
            <a:r>
              <a:rPr lang="en-US" altLang="zh-CN" sz="1100" dirty="0" smtClean="0">
                <a:solidFill>
                  <a:schemeClr val="accent5"/>
                </a:solidFill>
              </a:rPr>
              <a:t>(253,458)</a:t>
            </a:r>
            <a:endParaRPr lang="ja-JP" altLang="en-US" sz="1100" dirty="0">
              <a:solidFill>
                <a:schemeClr val="accent5"/>
              </a:solidFill>
            </a:endParaRPr>
          </a:p>
        </p:txBody>
      </p:sp>
      <p:sp>
        <p:nvSpPr>
          <p:cNvPr id="90" name="円弧 89"/>
          <p:cNvSpPr/>
          <p:nvPr/>
        </p:nvSpPr>
        <p:spPr>
          <a:xfrm rot="595315" flipV="1">
            <a:off x="387953" y="4246553"/>
            <a:ext cx="1448232" cy="956326"/>
          </a:xfrm>
          <a:prstGeom prst="arc">
            <a:avLst>
              <a:gd name="adj1" fmla="val 11046157"/>
              <a:gd name="adj2" fmla="val 21239721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正方形/長方形 16"/>
          <p:cNvSpPr/>
          <p:nvPr/>
        </p:nvSpPr>
        <p:spPr>
          <a:xfrm>
            <a:off x="2488406" y="5540988"/>
            <a:ext cx="2301842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100" dirty="0" smtClean="0">
                <a:solidFill>
                  <a:schemeClr val="accent6"/>
                </a:solidFill>
              </a:rPr>
              <a:t>Projector</a:t>
            </a:r>
            <a:r>
              <a:rPr lang="ja-JP" altLang="en-US" sz="1100" dirty="0" smtClean="0">
                <a:solidFill>
                  <a:schemeClr val="accent6"/>
                </a:solidFill>
              </a:rPr>
              <a:t> </a:t>
            </a:r>
            <a:r>
              <a:rPr lang="en-US" altLang="ja-JP" sz="1100" dirty="0" smtClean="0">
                <a:solidFill>
                  <a:schemeClr val="accent6"/>
                </a:solidFill>
              </a:rPr>
              <a:t>Position 2</a:t>
            </a:r>
            <a:r>
              <a:rPr lang="ja-JP" altLang="en-US" sz="1100" dirty="0" smtClean="0"/>
              <a:t>の</a:t>
            </a:r>
            <a:r>
              <a:rPr lang="en-US" altLang="ja-JP" sz="1100" dirty="0" smtClean="0"/>
              <a:t>Code</a:t>
            </a:r>
            <a:r>
              <a:rPr lang="ja-JP" altLang="en-US" sz="1100" dirty="0" smtClean="0"/>
              <a:t>は</a:t>
            </a:r>
            <a:r>
              <a:rPr lang="en-US" altLang="ja-JP" sz="1100" dirty="0" smtClean="0">
                <a:solidFill>
                  <a:schemeClr val="accent6"/>
                </a:solidFill>
              </a:rPr>
              <a:t>code32</a:t>
            </a:r>
            <a:r>
              <a:rPr lang="ja-JP" altLang="en-US" sz="1100" dirty="0" smtClean="0">
                <a:solidFill>
                  <a:schemeClr val="accent6"/>
                </a:solidFill>
              </a:rPr>
              <a:t>で，</a:t>
            </a:r>
            <a:r>
              <a:rPr lang="ja-JP" altLang="en-US" sz="1100" dirty="0" smtClean="0"/>
              <a:t>カメラ</a:t>
            </a:r>
            <a:r>
              <a:rPr lang="ja-JP" altLang="en-US" sz="1100" dirty="0" smtClean="0">
                <a:solidFill>
                  <a:schemeClr val="accent6"/>
                </a:solidFill>
              </a:rPr>
              <a:t>３</a:t>
            </a:r>
            <a:r>
              <a:rPr lang="ja-JP" altLang="en-US" sz="1100" dirty="0" smtClean="0"/>
              <a:t>の画像に</a:t>
            </a:r>
            <a:r>
              <a:rPr lang="en-US" altLang="ja-JP" sz="1100" dirty="0" smtClean="0">
                <a:solidFill>
                  <a:schemeClr val="accent6"/>
                </a:solidFill>
              </a:rPr>
              <a:t>code32</a:t>
            </a:r>
            <a:r>
              <a:rPr lang="ja-JP" altLang="en-US" sz="1100" dirty="0" smtClean="0"/>
              <a:t>の特徴点は</a:t>
            </a:r>
            <a:r>
              <a:rPr lang="en-US" altLang="ja-JP" sz="1100" dirty="0" smtClean="0">
                <a:solidFill>
                  <a:schemeClr val="accent6"/>
                </a:solidFill>
              </a:rPr>
              <a:t>Point</a:t>
            </a:r>
            <a:r>
              <a:rPr lang="en-US" altLang="zh-CN" sz="1100" dirty="0" smtClean="0">
                <a:solidFill>
                  <a:schemeClr val="accent6"/>
                </a:solidFill>
              </a:rPr>
              <a:t>(</a:t>
            </a:r>
            <a:r>
              <a:rPr lang="en-US" altLang="ja-JP" sz="1100" dirty="0" smtClean="0">
                <a:solidFill>
                  <a:schemeClr val="accent6"/>
                </a:solidFill>
              </a:rPr>
              <a:t>029</a:t>
            </a:r>
            <a:r>
              <a:rPr lang="en-US" altLang="zh-CN" sz="1100" dirty="0" smtClean="0">
                <a:solidFill>
                  <a:schemeClr val="accent6"/>
                </a:solidFill>
              </a:rPr>
              <a:t>,</a:t>
            </a:r>
            <a:r>
              <a:rPr lang="en-US" altLang="ja-JP" sz="1100" dirty="0" smtClean="0">
                <a:solidFill>
                  <a:schemeClr val="accent6"/>
                </a:solidFill>
              </a:rPr>
              <a:t>112</a:t>
            </a:r>
            <a:r>
              <a:rPr lang="en-US" altLang="zh-CN" sz="1100" dirty="0" smtClean="0">
                <a:solidFill>
                  <a:schemeClr val="accent6"/>
                </a:solidFill>
              </a:rPr>
              <a:t>)</a:t>
            </a:r>
            <a:endParaRPr lang="en-US" altLang="ja-JP" sz="1100" dirty="0" smtClean="0">
              <a:solidFill>
                <a:schemeClr val="accent6"/>
              </a:solidFill>
            </a:endParaRPr>
          </a:p>
        </p:txBody>
      </p:sp>
      <p:sp>
        <p:nvSpPr>
          <p:cNvPr id="92" name="円弧 91"/>
          <p:cNvSpPr/>
          <p:nvPr/>
        </p:nvSpPr>
        <p:spPr>
          <a:xfrm rot="12887895" flipV="1">
            <a:off x="2847917" y="4833675"/>
            <a:ext cx="1448232" cy="956326"/>
          </a:xfrm>
          <a:prstGeom prst="arc">
            <a:avLst>
              <a:gd name="adj1" fmla="val 11046157"/>
              <a:gd name="adj2" fmla="val 21239721"/>
            </a:avLst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" name="正方形/長方形 16"/>
          <p:cNvSpPr/>
          <p:nvPr/>
        </p:nvSpPr>
        <p:spPr>
          <a:xfrm>
            <a:off x="628650" y="6217593"/>
            <a:ext cx="165658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100" dirty="0" smtClean="0"/>
              <a:t>対応点は</a:t>
            </a:r>
            <a:r>
              <a:rPr lang="en-US" altLang="ja-JP" sz="1100" dirty="0">
                <a:solidFill>
                  <a:schemeClr val="accent5"/>
                </a:solidFill>
              </a:rPr>
              <a:t>Point</a:t>
            </a:r>
            <a:r>
              <a:rPr lang="en-US" altLang="zh-CN" sz="1100" dirty="0">
                <a:solidFill>
                  <a:schemeClr val="accent5"/>
                </a:solidFill>
              </a:rPr>
              <a:t>(253,458</a:t>
            </a:r>
            <a:r>
              <a:rPr lang="en-US" altLang="zh-CN" sz="1100" dirty="0" smtClean="0">
                <a:solidFill>
                  <a:schemeClr val="accent5"/>
                </a:solidFill>
              </a:rPr>
              <a:t>)</a:t>
            </a:r>
            <a:r>
              <a:rPr lang="ja-JP" altLang="en-US" sz="1100" dirty="0" smtClean="0"/>
              <a:t>と</a:t>
            </a:r>
            <a:r>
              <a:rPr lang="en-US" altLang="ja-JP" sz="1100" dirty="0">
                <a:solidFill>
                  <a:schemeClr val="accent6"/>
                </a:solidFill>
              </a:rPr>
              <a:t>Point</a:t>
            </a:r>
            <a:r>
              <a:rPr lang="en-US" altLang="zh-CN" sz="1100" dirty="0">
                <a:solidFill>
                  <a:schemeClr val="accent6"/>
                </a:solidFill>
              </a:rPr>
              <a:t>(</a:t>
            </a:r>
            <a:r>
              <a:rPr lang="en-US" altLang="ja-JP" sz="1100" dirty="0">
                <a:solidFill>
                  <a:schemeClr val="accent6"/>
                </a:solidFill>
              </a:rPr>
              <a:t>029</a:t>
            </a:r>
            <a:r>
              <a:rPr lang="en-US" altLang="zh-CN" sz="1100" dirty="0">
                <a:solidFill>
                  <a:schemeClr val="accent6"/>
                </a:solidFill>
              </a:rPr>
              <a:t>,</a:t>
            </a:r>
            <a:r>
              <a:rPr lang="en-US" altLang="ja-JP" sz="1100" dirty="0">
                <a:solidFill>
                  <a:schemeClr val="accent6"/>
                </a:solidFill>
              </a:rPr>
              <a:t>112</a:t>
            </a:r>
            <a:r>
              <a:rPr lang="en-US" altLang="zh-CN" sz="1100" dirty="0" smtClean="0">
                <a:solidFill>
                  <a:schemeClr val="accent6"/>
                </a:solidFill>
              </a:rPr>
              <a:t>)</a:t>
            </a:r>
            <a:endParaRPr lang="en-US" altLang="ja-JP" sz="1100" dirty="0">
              <a:solidFill>
                <a:schemeClr val="accent6"/>
              </a:solidFill>
            </a:endParaRPr>
          </a:p>
        </p:txBody>
      </p:sp>
      <p:sp>
        <p:nvSpPr>
          <p:cNvPr id="94" name="右矢印 93"/>
          <p:cNvSpPr/>
          <p:nvPr/>
        </p:nvSpPr>
        <p:spPr>
          <a:xfrm rot="3908370">
            <a:off x="-56455" y="5547158"/>
            <a:ext cx="1321248" cy="200044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95" name="右矢印 94"/>
          <p:cNvSpPr/>
          <p:nvPr/>
        </p:nvSpPr>
        <p:spPr>
          <a:xfrm rot="9550127">
            <a:off x="2053165" y="6190870"/>
            <a:ext cx="1227497" cy="19553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5121783" y="4273862"/>
            <a:ext cx="804763" cy="73186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椭圆 77"/>
          <p:cNvSpPr/>
          <p:nvPr/>
        </p:nvSpPr>
        <p:spPr>
          <a:xfrm>
            <a:off x="7101963" y="2153141"/>
            <a:ext cx="804763" cy="73186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曲线连接符 9"/>
          <p:cNvCxnSpPr>
            <a:stCxn id="78" idx="3"/>
            <a:endCxn id="6" idx="6"/>
          </p:cNvCxnSpPr>
          <p:nvPr/>
        </p:nvCxnSpPr>
        <p:spPr>
          <a:xfrm rot="5400000">
            <a:off x="5642197" y="3062172"/>
            <a:ext cx="1861970" cy="1293272"/>
          </a:xfrm>
          <a:prstGeom prst="curvedConnector2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9580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撮影された画像の例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10</a:t>
            </a:fld>
            <a:endParaRPr kumimoji="1" lang="ja-JP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176" y="2543175"/>
            <a:ext cx="1257300" cy="9429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6239" y="2543175"/>
            <a:ext cx="1257300" cy="9429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302" y="2543175"/>
            <a:ext cx="1257300" cy="9429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365" y="2543175"/>
            <a:ext cx="1257300" cy="9429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6239" y="3910409"/>
            <a:ext cx="1257300" cy="9429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151" y="3910408"/>
            <a:ext cx="1257301" cy="94297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363" y="3910408"/>
            <a:ext cx="1257301" cy="942976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575" y="3910408"/>
            <a:ext cx="1257301" cy="94297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175" y="3910409"/>
            <a:ext cx="1257301" cy="942976"/>
          </a:xfrm>
          <a:prstGeom prst="rect">
            <a:avLst/>
          </a:prstGeom>
        </p:spPr>
      </p:pic>
      <p:sp>
        <p:nvSpPr>
          <p:cNvPr id="14" name="正方形/長方形 16"/>
          <p:cNvSpPr/>
          <p:nvPr/>
        </p:nvSpPr>
        <p:spPr>
          <a:xfrm>
            <a:off x="30424" y="2883857"/>
            <a:ext cx="133932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100" dirty="0" smtClean="0">
                <a:solidFill>
                  <a:schemeClr val="accent5"/>
                </a:solidFill>
              </a:rPr>
              <a:t>プロジェクター</a:t>
            </a:r>
            <a:r>
              <a:rPr lang="ja-JP" altLang="en-US" sz="1100" dirty="0" smtClean="0">
                <a:solidFill>
                  <a:schemeClr val="accent5"/>
                </a:solidFill>
              </a:rPr>
              <a:t>１</a:t>
            </a:r>
            <a:endParaRPr lang="ja-JP" altLang="en-US" sz="1100" dirty="0">
              <a:solidFill>
                <a:schemeClr val="accent5"/>
              </a:solidFill>
            </a:endParaRPr>
          </a:p>
        </p:txBody>
      </p:sp>
      <p:sp>
        <p:nvSpPr>
          <p:cNvPr id="15" name="正方形/長方形 16"/>
          <p:cNvSpPr/>
          <p:nvPr/>
        </p:nvSpPr>
        <p:spPr>
          <a:xfrm>
            <a:off x="30424" y="4251092"/>
            <a:ext cx="133932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100" dirty="0" smtClean="0">
                <a:solidFill>
                  <a:schemeClr val="accent6"/>
                </a:solidFill>
              </a:rPr>
              <a:t>プロジェクタ</a:t>
            </a:r>
            <a:r>
              <a:rPr lang="ja-JP" altLang="en-US" sz="1100" dirty="0">
                <a:solidFill>
                  <a:schemeClr val="accent6"/>
                </a:solidFill>
              </a:rPr>
              <a:t>ー</a:t>
            </a:r>
            <a:r>
              <a:rPr lang="ja-JP" altLang="en-US" sz="1100" dirty="0" smtClean="0">
                <a:solidFill>
                  <a:schemeClr val="accent6"/>
                </a:solidFill>
              </a:rPr>
              <a:t>２</a:t>
            </a:r>
            <a:endParaRPr lang="en-US" altLang="ja-JP" sz="11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623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実験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7251" y="2337981"/>
            <a:ext cx="3660021" cy="3543953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88E4-6569-4D19-9234-A7EC7D743A2C}" type="slidenum">
              <a:rPr kumimoji="1" lang="ja-JP" altLang="en-US" smtClean="0"/>
              <a:t>11</a:t>
            </a:fld>
            <a:endParaRPr kumimoji="1" lang="ja-JP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464" y="4072732"/>
            <a:ext cx="3335148" cy="209767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464" y="2337981"/>
            <a:ext cx="3263902" cy="1734751"/>
          </a:xfrm>
          <a:prstGeom prst="rect">
            <a:avLst/>
          </a:prstGeom>
        </p:spPr>
      </p:pic>
      <p:sp>
        <p:nvSpPr>
          <p:cNvPr id="8" name="コンテンツ プレースホルダー 2"/>
          <p:cNvSpPr txBox="1">
            <a:spLocks/>
          </p:cNvSpPr>
          <p:nvPr/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 smtClean="0"/>
              <a:t>結果</a:t>
            </a:r>
          </a:p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8620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18425</TotalTime>
  <Words>454</Words>
  <Application>Microsoft Office PowerPoint</Application>
  <PresentationFormat>全屏显示(4:3)</PresentationFormat>
  <Paragraphs>149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游ゴシック</vt:lpstr>
      <vt:lpstr>游ゴシック Light</vt:lpstr>
      <vt:lpstr>等线</vt:lpstr>
      <vt:lpstr>等线 Light</vt:lpstr>
      <vt:lpstr>Arial</vt:lpstr>
      <vt:lpstr>Calibri</vt:lpstr>
      <vt:lpstr>Calibri Light</vt:lpstr>
      <vt:lpstr>Office テーマ</vt:lpstr>
      <vt:lpstr>ステレオカメラ・照明・時間を活用した 高精度・高ロバストな部品計測に関する研究</vt:lpstr>
      <vt:lpstr>あらまし</vt:lpstr>
      <vt:lpstr>前回の実験</vt:lpstr>
      <vt:lpstr>前回の実験</vt:lpstr>
      <vt:lpstr>前回の実験</vt:lpstr>
      <vt:lpstr>提案手法</vt:lpstr>
      <vt:lpstr>提案手法</vt:lpstr>
      <vt:lpstr>提案手法</vt:lpstr>
      <vt:lpstr>提案手法</vt:lpstr>
      <vt:lpstr>実験</vt:lpstr>
      <vt:lpstr>実験</vt:lpstr>
    </vt:vector>
  </TitlesOfParts>
  <Company>東京工業大学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lchunyu</dc:creator>
  <cp:lastModifiedBy>李淳雨</cp:lastModifiedBy>
  <cp:revision>395</cp:revision>
  <cp:lastPrinted>2017-03-06T11:28:39Z</cp:lastPrinted>
  <dcterms:created xsi:type="dcterms:W3CDTF">2016-11-09T04:14:56Z</dcterms:created>
  <dcterms:modified xsi:type="dcterms:W3CDTF">2017-03-16T15:07:51Z</dcterms:modified>
</cp:coreProperties>
</file>